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9"/>
  </p:notesMasterIdLst>
  <p:sldIdLst>
    <p:sldId id="256" r:id="rId5"/>
    <p:sldId id="395" r:id="rId6"/>
    <p:sldId id="396" r:id="rId7"/>
    <p:sldId id="495" r:id="rId8"/>
    <p:sldId id="496" r:id="rId9"/>
    <p:sldId id="461" r:id="rId10"/>
    <p:sldId id="462" r:id="rId11"/>
    <p:sldId id="463" r:id="rId12"/>
    <p:sldId id="303" r:id="rId13"/>
    <p:sldId id="394" r:id="rId14"/>
    <p:sldId id="398" r:id="rId15"/>
    <p:sldId id="431" r:id="rId16"/>
    <p:sldId id="402" r:id="rId17"/>
    <p:sldId id="432" r:id="rId18"/>
    <p:sldId id="428" r:id="rId19"/>
    <p:sldId id="454" r:id="rId20"/>
    <p:sldId id="439" r:id="rId21"/>
    <p:sldId id="456" r:id="rId22"/>
    <p:sldId id="440" r:id="rId23"/>
    <p:sldId id="460" r:id="rId24"/>
    <p:sldId id="405" r:id="rId25"/>
    <p:sldId id="406" r:id="rId26"/>
    <p:sldId id="409" r:id="rId27"/>
    <p:sldId id="410" r:id="rId28"/>
    <p:sldId id="411" r:id="rId29"/>
    <p:sldId id="464" r:id="rId30"/>
    <p:sldId id="441" r:id="rId31"/>
    <p:sldId id="408" r:id="rId32"/>
    <p:sldId id="457" r:id="rId33"/>
    <p:sldId id="400" r:id="rId34"/>
    <p:sldId id="443" r:id="rId35"/>
    <p:sldId id="444" r:id="rId36"/>
    <p:sldId id="415" r:id="rId37"/>
    <p:sldId id="414" r:id="rId38"/>
    <p:sldId id="446" r:id="rId39"/>
    <p:sldId id="450" r:id="rId40"/>
    <p:sldId id="416" r:id="rId41"/>
    <p:sldId id="447" r:id="rId42"/>
    <p:sldId id="419" r:id="rId43"/>
    <p:sldId id="448" r:id="rId44"/>
    <p:sldId id="449" r:id="rId45"/>
    <p:sldId id="421" r:id="rId46"/>
    <p:sldId id="494" r:id="rId47"/>
    <p:sldId id="429" r:id="rId48"/>
    <p:sldId id="430" r:id="rId49"/>
    <p:sldId id="442" r:id="rId50"/>
    <p:sldId id="434" r:id="rId51"/>
    <p:sldId id="458" r:id="rId52"/>
    <p:sldId id="459" r:id="rId53"/>
    <p:sldId id="422" r:id="rId54"/>
    <p:sldId id="451" r:id="rId55"/>
    <p:sldId id="452" r:id="rId56"/>
    <p:sldId id="453" r:id="rId57"/>
    <p:sldId id="279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[ALL] Opening" id="{B06FC455-FAC9-407A-A37F-AAB4478CB64E}">
          <p14:sldIdLst>
            <p14:sldId id="256"/>
          </p14:sldIdLst>
        </p14:section>
        <p14:section name="[ALL] General" id="{41E56E07-8D3D-4009-87AB-56409A2C8173}">
          <p14:sldIdLst>
            <p14:sldId id="395"/>
            <p14:sldId id="396"/>
            <p14:sldId id="495"/>
            <p14:sldId id="496"/>
          </p14:sldIdLst>
        </p14:section>
        <p14:section name="[ONLINE] Kehadiran Praktikum" id="{7E74956F-7A53-4BF2-85DE-B61697CF11A0}">
          <p14:sldIdLst>
            <p14:sldId id="461"/>
            <p14:sldId id="462"/>
            <p14:sldId id="463"/>
            <p14:sldId id="303"/>
          </p14:sldIdLst>
        </p14:section>
        <p14:section name="[ONSITE] Kehadiran Praktikum" id="{937294D0-3C04-4983-977E-06A0A5DB3A07}">
          <p14:sldIdLst>
            <p14:sldId id="394"/>
            <p14:sldId id="398"/>
            <p14:sldId id="431"/>
            <p14:sldId id="402"/>
            <p14:sldId id="432"/>
            <p14:sldId id="428"/>
            <p14:sldId id="454"/>
          </p14:sldIdLst>
        </p14:section>
        <p14:section name="[ONSITE] Ketentuan Ruangan Praktikum" id="{E72E2470-580B-458B-9987-DA70C0BBB633}">
          <p14:sldIdLst>
            <p14:sldId id="439"/>
            <p14:sldId id="456"/>
            <p14:sldId id="440"/>
            <p14:sldId id="460"/>
          </p14:sldIdLst>
        </p14:section>
        <p14:section name="[ALL] General" id="{C235D850-1D0C-4212-9548-137B6AB878B0}">
          <p14:sldIdLst>
            <p14:sldId id="405"/>
            <p14:sldId id="406"/>
            <p14:sldId id="409"/>
            <p14:sldId id="410"/>
            <p14:sldId id="411"/>
            <p14:sldId id="464"/>
            <p14:sldId id="441"/>
            <p14:sldId id="408"/>
            <p14:sldId id="457"/>
          </p14:sldIdLst>
        </p14:section>
        <p14:section name="[ALL] Proyek &amp; Kuis Bawa Pulang" id="{C19B750E-042B-4021-8E20-C45C43689DCB}">
          <p14:sldIdLst>
            <p14:sldId id="400"/>
            <p14:sldId id="443"/>
            <p14:sldId id="444"/>
            <p14:sldId id="415"/>
            <p14:sldId id="414"/>
            <p14:sldId id="446"/>
            <p14:sldId id="450"/>
            <p14:sldId id="416"/>
            <p14:sldId id="447"/>
            <p14:sldId id="419"/>
            <p14:sldId id="448"/>
          </p14:sldIdLst>
        </p14:section>
        <p14:section name="[ALL] Kuis Terjadwal dan UAP" id="{4BD6D5BE-C267-46CC-92E7-A483C734389E}">
          <p14:sldIdLst>
            <p14:sldId id="449"/>
            <p14:sldId id="421"/>
            <p14:sldId id="494"/>
          </p14:sldIdLst>
        </p14:section>
        <p14:section name="[ALL] General" id="{68BECED0-EEBB-43D9-ABC6-48D6BFD7A4A9}">
          <p14:sldIdLst>
            <p14:sldId id="429"/>
            <p14:sldId id="430"/>
            <p14:sldId id="442"/>
            <p14:sldId id="434"/>
            <p14:sldId id="458"/>
            <p14:sldId id="459"/>
            <p14:sldId id="422"/>
            <p14:sldId id="451"/>
            <p14:sldId id="452"/>
          </p14:sldIdLst>
        </p14:section>
        <p14:section name="[ALL] Penutup" id="{45409ECF-7B57-4A76-8584-42CE6213C440}">
          <p14:sldIdLst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28B98-A96B-9FFB-AA21-1B1943DB79C6}" v="21" dt="2026-09-04T08:53:01.475"/>
    <p1510:client id="{8D887DE9-1C21-41AF-7C63-6427C11D6EA8}" v="11" dt="2026-09-03T02:36:02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6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a Willis Alexander" userId="S::patricia.alexander@binus.edu::d531a540-e92d-4183-8c61-203f265e7633" providerId="AD" clId="Web-{52F28B98-A96B-9FFB-AA21-1B1943DB79C6}"/>
    <pc:docChg chg="modSld">
      <pc:chgData name="Patricia Willis Alexander" userId="S::patricia.alexander@binus.edu::d531a540-e92d-4183-8c61-203f265e7633" providerId="AD" clId="Web-{52F28B98-A96B-9FFB-AA21-1B1943DB79C6}" dt="2026-09-04T08:53:01.475" v="19" actId="20577"/>
      <pc:docMkLst>
        <pc:docMk/>
      </pc:docMkLst>
      <pc:sldChg chg="modSp">
        <pc:chgData name="Patricia Willis Alexander" userId="S::patricia.alexander@binus.edu::d531a540-e92d-4183-8c61-203f265e7633" providerId="AD" clId="Web-{52F28B98-A96B-9FFB-AA21-1B1943DB79C6}" dt="2026-09-04T08:53:01.475" v="19" actId="20577"/>
        <pc:sldMkLst>
          <pc:docMk/>
          <pc:sldMk cId="3471083617" sldId="421"/>
        </pc:sldMkLst>
        <pc:spChg chg="mod">
          <ac:chgData name="Patricia Willis Alexander" userId="S::patricia.alexander@binus.edu::d531a540-e92d-4183-8c61-203f265e7633" providerId="AD" clId="Web-{52F28B98-A96B-9FFB-AA21-1B1943DB79C6}" dt="2026-09-04T08:53:01.475" v="19" actId="20577"/>
          <ac:spMkLst>
            <pc:docMk/>
            <pc:sldMk cId="3471083617" sldId="421"/>
            <ac:spMk id="3" creationId="{00000000-0000-0000-0000-000000000000}"/>
          </ac:spMkLst>
        </pc:spChg>
      </pc:sldChg>
      <pc:sldChg chg="modSp">
        <pc:chgData name="Patricia Willis Alexander" userId="S::patricia.alexander@binus.edu::d531a540-e92d-4183-8c61-203f265e7633" providerId="AD" clId="Web-{52F28B98-A96B-9FFB-AA21-1B1943DB79C6}" dt="2026-09-04T08:52:13.395" v="8" actId="20577"/>
        <pc:sldMkLst>
          <pc:docMk/>
          <pc:sldMk cId="521243369" sldId="446"/>
        </pc:sldMkLst>
        <pc:spChg chg="mod">
          <ac:chgData name="Patricia Willis Alexander" userId="S::patricia.alexander@binus.edu::d531a540-e92d-4183-8c61-203f265e7633" providerId="AD" clId="Web-{52F28B98-A96B-9FFB-AA21-1B1943DB79C6}" dt="2026-09-04T08:52:13.395" v="8" actId="20577"/>
          <ac:spMkLst>
            <pc:docMk/>
            <pc:sldMk cId="521243369" sldId="446"/>
            <ac:spMk id="3" creationId="{00000000-0000-0000-0000-000000000000}"/>
          </ac:spMkLst>
        </pc:spChg>
      </pc:sldChg>
    </pc:docChg>
  </pc:docChgLst>
  <pc:docChgLst>
    <pc:chgData name="Patricia Willis Alexander" userId="S::patricia.alexander@binus.edu::d531a540-e92d-4183-8c61-203f265e7633" providerId="AD" clId="Web-{67A5693A-6159-2327-48C6-18C6F4AE0C66}"/>
    <pc:docChg chg="modSld">
      <pc:chgData name="Patricia Willis Alexander" userId="S::patricia.alexander@binus.edu::d531a540-e92d-4183-8c61-203f265e7633" providerId="AD" clId="Web-{67A5693A-6159-2327-48C6-18C6F4AE0C66}" dt="2026-08-28T04:41:17.439" v="87"/>
      <pc:docMkLst>
        <pc:docMk/>
      </pc:docMkLst>
      <pc:sldChg chg="modSp">
        <pc:chgData name="Patricia Willis Alexander" userId="S::patricia.alexander@binus.edu::d531a540-e92d-4183-8c61-203f265e7633" providerId="AD" clId="Web-{67A5693A-6159-2327-48C6-18C6F4AE0C66}" dt="2026-08-28T04:38:40.886" v="10" actId="20577"/>
        <pc:sldMkLst>
          <pc:docMk/>
          <pc:sldMk cId="3394399515" sldId="256"/>
        </pc:sldMkLst>
        <pc:spChg chg="mod">
          <ac:chgData name="Patricia Willis Alexander" userId="S::patricia.alexander@binus.edu::d531a540-e92d-4183-8c61-203f265e7633" providerId="AD" clId="Web-{67A5693A-6159-2327-48C6-18C6F4AE0C66}" dt="2026-08-28T04:38:40.886" v="10" actId="20577"/>
          <ac:spMkLst>
            <pc:docMk/>
            <pc:sldMk cId="3394399515" sldId="256"/>
            <ac:spMk id="3" creationId="{00000000-0000-0000-0000-000000000000}"/>
          </ac:spMkLst>
        </pc:spChg>
      </pc:sldChg>
      <pc:sldChg chg="modSp">
        <pc:chgData name="Patricia Willis Alexander" userId="S::patricia.alexander@binus.edu::d531a540-e92d-4183-8c61-203f265e7633" providerId="AD" clId="Web-{67A5693A-6159-2327-48C6-18C6F4AE0C66}" dt="2026-08-28T04:39:12.168" v="24"/>
        <pc:sldMkLst>
          <pc:docMk/>
          <pc:sldMk cId="459074214" sldId="396"/>
        </pc:sldMkLst>
        <pc:graphicFrameChg chg="mod modGraphic">
          <ac:chgData name="Patricia Willis Alexander" userId="S::patricia.alexander@binus.edu::d531a540-e92d-4183-8c61-203f265e7633" providerId="AD" clId="Web-{67A5693A-6159-2327-48C6-18C6F4AE0C66}" dt="2026-08-28T04:39:12.168" v="24"/>
          <ac:graphicFrameMkLst>
            <pc:docMk/>
            <pc:sldMk cId="459074214" sldId="396"/>
            <ac:graphicFrameMk id="7" creationId="{8148A7A9-A6E3-FF7A-93BD-530DD06849D7}"/>
          </ac:graphicFrameMkLst>
        </pc:graphicFrameChg>
      </pc:sldChg>
      <pc:sldChg chg="modSp">
        <pc:chgData name="Patricia Willis Alexander" userId="S::patricia.alexander@binus.edu::d531a540-e92d-4183-8c61-203f265e7633" providerId="AD" clId="Web-{67A5693A-6159-2327-48C6-18C6F4AE0C66}" dt="2026-08-28T04:40:27.562" v="59"/>
        <pc:sldMkLst>
          <pc:docMk/>
          <pc:sldMk cId="29960443" sldId="495"/>
        </pc:sldMkLst>
        <pc:graphicFrameChg chg="mod modGraphic">
          <ac:chgData name="Patricia Willis Alexander" userId="S::patricia.alexander@binus.edu::d531a540-e92d-4183-8c61-203f265e7633" providerId="AD" clId="Web-{67A5693A-6159-2327-48C6-18C6F4AE0C66}" dt="2026-08-28T04:40:27.562" v="59"/>
          <ac:graphicFrameMkLst>
            <pc:docMk/>
            <pc:sldMk cId="29960443" sldId="495"/>
            <ac:graphicFrameMk id="5" creationId="{8D182697-C818-CDE1-0779-4D7C50B21137}"/>
          </ac:graphicFrameMkLst>
        </pc:graphicFrameChg>
      </pc:sldChg>
      <pc:sldChg chg="modSp">
        <pc:chgData name="Patricia Willis Alexander" userId="S::patricia.alexander@binus.edu::d531a540-e92d-4183-8c61-203f265e7633" providerId="AD" clId="Web-{67A5693A-6159-2327-48C6-18C6F4AE0C66}" dt="2026-08-28T04:41:17.439" v="87"/>
        <pc:sldMkLst>
          <pc:docMk/>
          <pc:sldMk cId="1977849686" sldId="496"/>
        </pc:sldMkLst>
        <pc:graphicFrameChg chg="mod modGraphic">
          <ac:chgData name="Patricia Willis Alexander" userId="S::patricia.alexander@binus.edu::d531a540-e92d-4183-8c61-203f265e7633" providerId="AD" clId="Web-{67A5693A-6159-2327-48C6-18C6F4AE0C66}" dt="2026-08-28T04:41:17.439" v="87"/>
          <ac:graphicFrameMkLst>
            <pc:docMk/>
            <pc:sldMk cId="1977849686" sldId="496"/>
            <ac:graphicFrameMk id="2" creationId="{19C3F9D9-5A95-1440-0AFA-6BA4F4FA9525}"/>
          </ac:graphicFrameMkLst>
        </pc:graphicFrameChg>
      </pc:sldChg>
    </pc:docChg>
  </pc:docChgLst>
  <pc:docChgLst>
    <pc:chgData name="Patricia Willis Alexander" userId="S::patricia.alexander@binus.edu::d531a540-e92d-4183-8c61-203f265e7633" providerId="AD" clId="Web-{8D887DE9-1C21-41AF-7C63-6427C11D6EA8}"/>
    <pc:docChg chg="modSld">
      <pc:chgData name="Patricia Willis Alexander" userId="S::patricia.alexander@binus.edu::d531a540-e92d-4183-8c61-203f265e7633" providerId="AD" clId="Web-{8D887DE9-1C21-41AF-7C63-6427C11D6EA8}" dt="2026-09-03T02:36:00.718" v="9" actId="20577"/>
      <pc:docMkLst>
        <pc:docMk/>
      </pc:docMkLst>
      <pc:sldChg chg="modSp">
        <pc:chgData name="Patricia Willis Alexander" userId="S::patricia.alexander@binus.edu::d531a540-e92d-4183-8c61-203f265e7633" providerId="AD" clId="Web-{8D887DE9-1C21-41AF-7C63-6427C11D6EA8}" dt="2026-09-03T02:36:00.718" v="9" actId="20577"/>
        <pc:sldMkLst>
          <pc:docMk/>
          <pc:sldMk cId="755433476" sldId="443"/>
        </pc:sldMkLst>
        <pc:spChg chg="mod">
          <ac:chgData name="Patricia Willis Alexander" userId="S::patricia.alexander@binus.edu::d531a540-e92d-4183-8c61-203f265e7633" providerId="AD" clId="Web-{8D887DE9-1C21-41AF-7C63-6427C11D6EA8}" dt="2026-09-03T02:36:00.718" v="9" actId="20577"/>
          <ac:spMkLst>
            <pc:docMk/>
            <pc:sldMk cId="755433476" sldId="443"/>
            <ac:spMk id="4" creationId="{5B737986-210A-1B48-517D-A1F2CAF1146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A32034-3E64-4084-AD79-A52136DCEFC8}" type="doc">
      <dgm:prSet loTypeId="urn:microsoft.com/office/officeart/2009/3/layout/HorizontalOrganizationChart" loCatId="hierarchy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en-US"/>
        </a:p>
      </dgm:t>
    </dgm:pt>
    <dgm:pt modelId="{31C05A5E-75D8-4039-BDBC-590EFE76AE36}">
      <dgm:prSet phldrT="[Text]"/>
      <dgm:spPr/>
      <dgm:t>
        <a:bodyPr/>
        <a:lstStyle/>
        <a:p>
          <a:r>
            <a:rPr lang="id-ID" b="1"/>
            <a:t>Pelaksanaan </a:t>
          </a:r>
        </a:p>
        <a:p>
          <a:r>
            <a:rPr lang="id-ID" b="1"/>
            <a:t>UAP</a:t>
          </a:r>
          <a:endParaRPr lang="en-US" b="1"/>
        </a:p>
      </dgm:t>
    </dgm:pt>
    <dgm:pt modelId="{0EF0C124-32E6-49F6-BAAA-E88AB1AD10F8}" type="parTrans" cxnId="{19EF9FC6-ABCC-4F4F-97A7-59C6B83204D9}">
      <dgm:prSet/>
      <dgm:spPr/>
      <dgm:t>
        <a:bodyPr/>
        <a:lstStyle/>
        <a:p>
          <a:endParaRPr lang="en-US"/>
        </a:p>
      </dgm:t>
    </dgm:pt>
    <dgm:pt modelId="{859A85A0-76B4-4696-8E7A-DCB80849B69F}" type="sibTrans" cxnId="{19EF9FC6-ABCC-4F4F-97A7-59C6B83204D9}">
      <dgm:prSet/>
      <dgm:spPr/>
      <dgm:t>
        <a:bodyPr/>
        <a:lstStyle/>
        <a:p>
          <a:endParaRPr lang="en-US"/>
        </a:p>
      </dgm:t>
    </dgm:pt>
    <dgm:pt modelId="{C912CA64-97E2-4D76-BF5F-F93349F3BF0F}">
      <dgm:prSet phldrT="[Text]"/>
      <dgm:spPr/>
      <dgm:t>
        <a:bodyPr/>
        <a:lstStyle/>
        <a:p>
          <a:r>
            <a:rPr lang="en-US"/>
            <a:t>1</a:t>
          </a:r>
          <a:r>
            <a:rPr lang="id-ID"/>
            <a:t> sks</a:t>
          </a:r>
          <a:endParaRPr lang="en-US"/>
        </a:p>
      </dgm:t>
    </dgm:pt>
    <dgm:pt modelId="{13024CA2-09D7-46DB-9BBF-7B44B48C5CD4}" type="parTrans" cxnId="{C4BEC59B-4C20-47C0-AA11-748FB4F2835F}">
      <dgm:prSet/>
      <dgm:spPr/>
      <dgm:t>
        <a:bodyPr/>
        <a:lstStyle/>
        <a:p>
          <a:endParaRPr lang="en-US"/>
        </a:p>
      </dgm:t>
    </dgm:pt>
    <dgm:pt modelId="{DE44A921-9BF0-4FF3-93E4-0B75ABB58CB6}" type="sibTrans" cxnId="{C4BEC59B-4C20-47C0-AA11-748FB4F2835F}">
      <dgm:prSet/>
      <dgm:spPr/>
      <dgm:t>
        <a:bodyPr/>
        <a:lstStyle/>
        <a:p>
          <a:endParaRPr lang="en-US"/>
        </a:p>
      </dgm:t>
    </dgm:pt>
    <dgm:pt modelId="{226860A9-CA68-4602-8CF5-A8BC078BEA37}">
      <dgm:prSet phldrT="[Text]"/>
      <dgm:spPr/>
      <dgm:t>
        <a:bodyPr/>
        <a:lstStyle/>
        <a:p>
          <a:r>
            <a:rPr lang="id-ID"/>
            <a:t>Pertemuan 6</a:t>
          </a:r>
          <a:endParaRPr lang="en-US"/>
        </a:p>
      </dgm:t>
    </dgm:pt>
    <dgm:pt modelId="{2393BB1F-1F4F-4D50-95D8-172F5049B52B}" type="parTrans" cxnId="{A2DBCE75-4CBD-4596-935A-ED719B520D63}">
      <dgm:prSet/>
      <dgm:spPr/>
      <dgm:t>
        <a:bodyPr/>
        <a:lstStyle/>
        <a:p>
          <a:endParaRPr lang="en-US"/>
        </a:p>
      </dgm:t>
    </dgm:pt>
    <dgm:pt modelId="{381BB7BB-77D1-4329-896A-3EACD7FD2429}" type="sibTrans" cxnId="{A2DBCE75-4CBD-4596-935A-ED719B520D63}">
      <dgm:prSet/>
      <dgm:spPr/>
      <dgm:t>
        <a:bodyPr/>
        <a:lstStyle/>
        <a:p>
          <a:endParaRPr lang="en-US"/>
        </a:p>
      </dgm:t>
    </dgm:pt>
    <dgm:pt modelId="{3404FD92-4CF3-4946-9E03-919A3AFA3EEA}">
      <dgm:prSet phldrT="[Text]"/>
      <dgm:spPr/>
      <dgm:t>
        <a:bodyPr/>
        <a:lstStyle/>
        <a:p>
          <a:r>
            <a:rPr lang="en-US"/>
            <a:t>2</a:t>
          </a:r>
          <a:r>
            <a:rPr lang="id-ID"/>
            <a:t> sks</a:t>
          </a:r>
          <a:endParaRPr lang="en-US"/>
        </a:p>
      </dgm:t>
    </dgm:pt>
    <dgm:pt modelId="{C4934EB2-2F4F-4F2F-9504-19DA4B048D2A}" type="parTrans" cxnId="{60B8F7AB-B795-42EC-93FF-B905F86B2AB3}">
      <dgm:prSet/>
      <dgm:spPr/>
      <dgm:t>
        <a:bodyPr/>
        <a:lstStyle/>
        <a:p>
          <a:endParaRPr lang="en-US"/>
        </a:p>
      </dgm:t>
    </dgm:pt>
    <dgm:pt modelId="{F0D2242F-B569-4CFC-B60F-56897F693EA4}" type="sibTrans" cxnId="{60B8F7AB-B795-42EC-93FF-B905F86B2AB3}">
      <dgm:prSet/>
      <dgm:spPr/>
      <dgm:t>
        <a:bodyPr/>
        <a:lstStyle/>
        <a:p>
          <a:endParaRPr lang="en-US"/>
        </a:p>
      </dgm:t>
    </dgm:pt>
    <dgm:pt modelId="{EB4B519C-4828-4A1F-9598-25EC68C4319C}">
      <dgm:prSet phldrT="[Text]"/>
      <dgm:spPr/>
      <dgm:t>
        <a:bodyPr/>
        <a:lstStyle/>
        <a:p>
          <a:r>
            <a:rPr lang="id-ID"/>
            <a:t>Pertemuan 12</a:t>
          </a:r>
          <a:endParaRPr lang="en-US"/>
        </a:p>
      </dgm:t>
    </dgm:pt>
    <dgm:pt modelId="{8121E8BA-EEB2-4C6C-9258-E0F5934CF375}" type="parTrans" cxnId="{17F6CACC-25C5-40D4-90A7-DBD8D67F2707}">
      <dgm:prSet/>
      <dgm:spPr/>
      <dgm:t>
        <a:bodyPr/>
        <a:lstStyle/>
        <a:p>
          <a:endParaRPr lang="en-US"/>
        </a:p>
      </dgm:t>
    </dgm:pt>
    <dgm:pt modelId="{7CE03B29-4E43-423B-898C-6230506725AF}" type="sibTrans" cxnId="{17F6CACC-25C5-40D4-90A7-DBD8D67F2707}">
      <dgm:prSet/>
      <dgm:spPr/>
      <dgm:t>
        <a:bodyPr/>
        <a:lstStyle/>
        <a:p>
          <a:endParaRPr lang="en-US"/>
        </a:p>
      </dgm:t>
    </dgm:pt>
    <dgm:pt modelId="{FE71BEEF-CDD3-4AFE-93BE-2E40C2F48AD3}" type="pres">
      <dgm:prSet presAssocID="{DCA32034-3E64-4084-AD79-A52136DCEFC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4F2DCA1-A0DC-4F05-AB7E-35CF760DF5BB}" type="pres">
      <dgm:prSet presAssocID="{31C05A5E-75D8-4039-BDBC-590EFE76AE36}" presName="hierRoot1" presStyleCnt="0">
        <dgm:presLayoutVars>
          <dgm:hierBranch val="init"/>
        </dgm:presLayoutVars>
      </dgm:prSet>
      <dgm:spPr/>
    </dgm:pt>
    <dgm:pt modelId="{3FBA7570-699B-4732-925C-239E35BD44CC}" type="pres">
      <dgm:prSet presAssocID="{31C05A5E-75D8-4039-BDBC-590EFE76AE36}" presName="rootComposite1" presStyleCnt="0"/>
      <dgm:spPr/>
    </dgm:pt>
    <dgm:pt modelId="{1D36840F-FF52-449A-8338-E6B927ED0669}" type="pres">
      <dgm:prSet presAssocID="{31C05A5E-75D8-4039-BDBC-590EFE76AE36}" presName="rootText1" presStyleLbl="node0" presStyleIdx="0" presStyleCnt="1" custScaleY="173126">
        <dgm:presLayoutVars>
          <dgm:chPref val="3"/>
        </dgm:presLayoutVars>
      </dgm:prSet>
      <dgm:spPr/>
    </dgm:pt>
    <dgm:pt modelId="{A5EDC301-FF0E-4CBC-AEE6-BF041725AAA7}" type="pres">
      <dgm:prSet presAssocID="{31C05A5E-75D8-4039-BDBC-590EFE76AE36}" presName="rootConnector1" presStyleLbl="node1" presStyleIdx="0" presStyleCnt="0"/>
      <dgm:spPr/>
    </dgm:pt>
    <dgm:pt modelId="{910048FF-023A-49EC-A03A-A2B40C10B069}" type="pres">
      <dgm:prSet presAssocID="{31C05A5E-75D8-4039-BDBC-590EFE76AE36}" presName="hierChild2" presStyleCnt="0"/>
      <dgm:spPr/>
    </dgm:pt>
    <dgm:pt modelId="{D7BB89B5-2C1C-4AD0-B0E8-97E59560F151}" type="pres">
      <dgm:prSet presAssocID="{13024CA2-09D7-46DB-9BBF-7B44B48C5CD4}" presName="Name64" presStyleLbl="parChTrans1D2" presStyleIdx="0" presStyleCnt="2"/>
      <dgm:spPr/>
    </dgm:pt>
    <dgm:pt modelId="{94306489-DCA6-455B-B209-4DDD652C14EC}" type="pres">
      <dgm:prSet presAssocID="{C912CA64-97E2-4D76-BF5F-F93349F3BF0F}" presName="hierRoot2" presStyleCnt="0">
        <dgm:presLayoutVars>
          <dgm:hierBranch val="init"/>
        </dgm:presLayoutVars>
      </dgm:prSet>
      <dgm:spPr/>
    </dgm:pt>
    <dgm:pt modelId="{2905FD9C-2864-4F4D-8C46-E7D734D19094}" type="pres">
      <dgm:prSet presAssocID="{C912CA64-97E2-4D76-BF5F-F93349F3BF0F}" presName="rootComposite" presStyleCnt="0"/>
      <dgm:spPr/>
    </dgm:pt>
    <dgm:pt modelId="{9286B055-A1AD-4E3E-B486-55166F0DBCA1}" type="pres">
      <dgm:prSet presAssocID="{C912CA64-97E2-4D76-BF5F-F93349F3BF0F}" presName="rootText" presStyleLbl="node2" presStyleIdx="0" presStyleCnt="2">
        <dgm:presLayoutVars>
          <dgm:chPref val="3"/>
        </dgm:presLayoutVars>
      </dgm:prSet>
      <dgm:spPr/>
    </dgm:pt>
    <dgm:pt modelId="{A4E49B30-DBBB-4F26-BF9B-31C8E7DDD828}" type="pres">
      <dgm:prSet presAssocID="{C912CA64-97E2-4D76-BF5F-F93349F3BF0F}" presName="rootConnector" presStyleLbl="node2" presStyleIdx="0" presStyleCnt="2"/>
      <dgm:spPr/>
    </dgm:pt>
    <dgm:pt modelId="{463C3D8D-975A-4603-8F9F-D531A3163E7C}" type="pres">
      <dgm:prSet presAssocID="{C912CA64-97E2-4D76-BF5F-F93349F3BF0F}" presName="hierChild4" presStyleCnt="0"/>
      <dgm:spPr/>
    </dgm:pt>
    <dgm:pt modelId="{9AD3C31B-DAC0-4602-8153-16F85302DCFD}" type="pres">
      <dgm:prSet presAssocID="{2393BB1F-1F4F-4D50-95D8-172F5049B52B}" presName="Name64" presStyleLbl="parChTrans1D3" presStyleIdx="0" presStyleCnt="2"/>
      <dgm:spPr/>
    </dgm:pt>
    <dgm:pt modelId="{CB5BFA46-BC5F-4E97-8351-10918A1386D6}" type="pres">
      <dgm:prSet presAssocID="{226860A9-CA68-4602-8CF5-A8BC078BEA37}" presName="hierRoot2" presStyleCnt="0">
        <dgm:presLayoutVars>
          <dgm:hierBranch val="init"/>
        </dgm:presLayoutVars>
      </dgm:prSet>
      <dgm:spPr/>
    </dgm:pt>
    <dgm:pt modelId="{081D34FE-1050-428B-9BF6-4A1EA99C6159}" type="pres">
      <dgm:prSet presAssocID="{226860A9-CA68-4602-8CF5-A8BC078BEA37}" presName="rootComposite" presStyleCnt="0"/>
      <dgm:spPr/>
    </dgm:pt>
    <dgm:pt modelId="{40315A23-B58A-422C-A51F-45E3E24DCF49}" type="pres">
      <dgm:prSet presAssocID="{226860A9-CA68-4602-8CF5-A8BC078BEA37}" presName="rootText" presStyleLbl="node3" presStyleIdx="0" presStyleCnt="2">
        <dgm:presLayoutVars>
          <dgm:chPref val="3"/>
        </dgm:presLayoutVars>
      </dgm:prSet>
      <dgm:spPr/>
    </dgm:pt>
    <dgm:pt modelId="{245C6FA2-A6D0-4A78-ABA6-04C065BDAD0B}" type="pres">
      <dgm:prSet presAssocID="{226860A9-CA68-4602-8CF5-A8BC078BEA37}" presName="rootConnector" presStyleLbl="node3" presStyleIdx="0" presStyleCnt="2"/>
      <dgm:spPr/>
    </dgm:pt>
    <dgm:pt modelId="{3AF4EB01-FE90-4796-A692-961F94BEFD24}" type="pres">
      <dgm:prSet presAssocID="{226860A9-CA68-4602-8CF5-A8BC078BEA37}" presName="hierChild4" presStyleCnt="0"/>
      <dgm:spPr/>
    </dgm:pt>
    <dgm:pt modelId="{84C434DC-DC18-45F2-BE31-CFA59F46BB03}" type="pres">
      <dgm:prSet presAssocID="{226860A9-CA68-4602-8CF5-A8BC078BEA37}" presName="hierChild5" presStyleCnt="0"/>
      <dgm:spPr/>
    </dgm:pt>
    <dgm:pt modelId="{2160C2CD-FF09-466C-A426-9CF9AD99712C}" type="pres">
      <dgm:prSet presAssocID="{C912CA64-97E2-4D76-BF5F-F93349F3BF0F}" presName="hierChild5" presStyleCnt="0"/>
      <dgm:spPr/>
    </dgm:pt>
    <dgm:pt modelId="{07A4936B-6474-46D5-8608-658CB3F741A1}" type="pres">
      <dgm:prSet presAssocID="{C4934EB2-2F4F-4F2F-9504-19DA4B048D2A}" presName="Name64" presStyleLbl="parChTrans1D2" presStyleIdx="1" presStyleCnt="2"/>
      <dgm:spPr/>
    </dgm:pt>
    <dgm:pt modelId="{96DF3C6C-98B7-44AA-BF4B-3C6D02EEB737}" type="pres">
      <dgm:prSet presAssocID="{3404FD92-4CF3-4946-9E03-919A3AFA3EEA}" presName="hierRoot2" presStyleCnt="0">
        <dgm:presLayoutVars>
          <dgm:hierBranch val="init"/>
        </dgm:presLayoutVars>
      </dgm:prSet>
      <dgm:spPr/>
    </dgm:pt>
    <dgm:pt modelId="{506739DE-6332-44AB-9A81-B2094FF22C4B}" type="pres">
      <dgm:prSet presAssocID="{3404FD92-4CF3-4946-9E03-919A3AFA3EEA}" presName="rootComposite" presStyleCnt="0"/>
      <dgm:spPr/>
    </dgm:pt>
    <dgm:pt modelId="{AACC1F46-84C7-49E6-A336-F1654DFDA1AD}" type="pres">
      <dgm:prSet presAssocID="{3404FD92-4CF3-4946-9E03-919A3AFA3EEA}" presName="rootText" presStyleLbl="node2" presStyleIdx="1" presStyleCnt="2">
        <dgm:presLayoutVars>
          <dgm:chPref val="3"/>
        </dgm:presLayoutVars>
      </dgm:prSet>
      <dgm:spPr/>
    </dgm:pt>
    <dgm:pt modelId="{0900C185-0808-4CAE-81AA-ABBEF8E7293A}" type="pres">
      <dgm:prSet presAssocID="{3404FD92-4CF3-4946-9E03-919A3AFA3EEA}" presName="rootConnector" presStyleLbl="node2" presStyleIdx="1" presStyleCnt="2"/>
      <dgm:spPr/>
    </dgm:pt>
    <dgm:pt modelId="{024DF4EC-55EB-40D5-9E16-F8423880774F}" type="pres">
      <dgm:prSet presAssocID="{3404FD92-4CF3-4946-9E03-919A3AFA3EEA}" presName="hierChild4" presStyleCnt="0"/>
      <dgm:spPr/>
    </dgm:pt>
    <dgm:pt modelId="{71E90BEC-0441-45A4-A937-49F9DE2EAEA4}" type="pres">
      <dgm:prSet presAssocID="{8121E8BA-EEB2-4C6C-9258-E0F5934CF375}" presName="Name64" presStyleLbl="parChTrans1D3" presStyleIdx="1" presStyleCnt="2"/>
      <dgm:spPr/>
    </dgm:pt>
    <dgm:pt modelId="{3873872A-4A6B-4BB0-A2AA-4B9A6C42AC0B}" type="pres">
      <dgm:prSet presAssocID="{EB4B519C-4828-4A1F-9598-25EC68C4319C}" presName="hierRoot2" presStyleCnt="0">
        <dgm:presLayoutVars>
          <dgm:hierBranch val="init"/>
        </dgm:presLayoutVars>
      </dgm:prSet>
      <dgm:spPr/>
    </dgm:pt>
    <dgm:pt modelId="{D05B3BF0-4A4A-4371-8E68-D72777D09A86}" type="pres">
      <dgm:prSet presAssocID="{EB4B519C-4828-4A1F-9598-25EC68C4319C}" presName="rootComposite" presStyleCnt="0"/>
      <dgm:spPr/>
    </dgm:pt>
    <dgm:pt modelId="{CEB203CA-8B93-4579-BD44-F88372043C32}" type="pres">
      <dgm:prSet presAssocID="{EB4B519C-4828-4A1F-9598-25EC68C4319C}" presName="rootText" presStyleLbl="node3" presStyleIdx="1" presStyleCnt="2">
        <dgm:presLayoutVars>
          <dgm:chPref val="3"/>
        </dgm:presLayoutVars>
      </dgm:prSet>
      <dgm:spPr/>
    </dgm:pt>
    <dgm:pt modelId="{8E1F9AC4-204D-44AE-A452-84472AC23A77}" type="pres">
      <dgm:prSet presAssocID="{EB4B519C-4828-4A1F-9598-25EC68C4319C}" presName="rootConnector" presStyleLbl="node3" presStyleIdx="1" presStyleCnt="2"/>
      <dgm:spPr/>
    </dgm:pt>
    <dgm:pt modelId="{51A3E5B1-479B-4805-90AF-7CC5DCF1B428}" type="pres">
      <dgm:prSet presAssocID="{EB4B519C-4828-4A1F-9598-25EC68C4319C}" presName="hierChild4" presStyleCnt="0"/>
      <dgm:spPr/>
    </dgm:pt>
    <dgm:pt modelId="{1B641915-624B-4491-B800-4D6BCA83D01F}" type="pres">
      <dgm:prSet presAssocID="{EB4B519C-4828-4A1F-9598-25EC68C4319C}" presName="hierChild5" presStyleCnt="0"/>
      <dgm:spPr/>
    </dgm:pt>
    <dgm:pt modelId="{7579C501-7B97-4A28-8ECE-583783E7848C}" type="pres">
      <dgm:prSet presAssocID="{3404FD92-4CF3-4946-9E03-919A3AFA3EEA}" presName="hierChild5" presStyleCnt="0"/>
      <dgm:spPr/>
    </dgm:pt>
    <dgm:pt modelId="{007EE3CD-26BC-4750-B1AB-09BAE10894D1}" type="pres">
      <dgm:prSet presAssocID="{31C05A5E-75D8-4039-BDBC-590EFE76AE36}" presName="hierChild3" presStyleCnt="0"/>
      <dgm:spPr/>
    </dgm:pt>
  </dgm:ptLst>
  <dgm:cxnLst>
    <dgm:cxn modelId="{BC97AD1D-A89D-4CC0-84CC-AD01D0FC7A05}" type="presOf" srcId="{226860A9-CA68-4602-8CF5-A8BC078BEA37}" destId="{40315A23-B58A-422C-A51F-45E3E24DCF49}" srcOrd="0" destOrd="0" presId="urn:microsoft.com/office/officeart/2009/3/layout/HorizontalOrganizationChart"/>
    <dgm:cxn modelId="{77C5272F-2BB2-4EFE-B112-B0E6CF7E9F02}" type="presOf" srcId="{EB4B519C-4828-4A1F-9598-25EC68C4319C}" destId="{8E1F9AC4-204D-44AE-A452-84472AC23A77}" srcOrd="1" destOrd="0" presId="urn:microsoft.com/office/officeart/2009/3/layout/HorizontalOrganizationChart"/>
    <dgm:cxn modelId="{4D2AC631-7E09-49D1-911F-3BFF30780FDC}" type="presOf" srcId="{C4934EB2-2F4F-4F2F-9504-19DA4B048D2A}" destId="{07A4936B-6474-46D5-8608-658CB3F741A1}" srcOrd="0" destOrd="0" presId="urn:microsoft.com/office/officeart/2009/3/layout/HorizontalOrganizationChart"/>
    <dgm:cxn modelId="{20D01034-B16E-432B-BAB1-AD01C5578680}" type="presOf" srcId="{8121E8BA-EEB2-4C6C-9258-E0F5934CF375}" destId="{71E90BEC-0441-45A4-A937-49F9DE2EAEA4}" srcOrd="0" destOrd="0" presId="urn:microsoft.com/office/officeart/2009/3/layout/HorizontalOrganizationChart"/>
    <dgm:cxn modelId="{43BDC33E-0ACB-4C8E-80E2-B17AF931FEBE}" type="presOf" srcId="{DCA32034-3E64-4084-AD79-A52136DCEFC8}" destId="{FE71BEEF-CDD3-4AFE-93BE-2E40C2F48AD3}" srcOrd="0" destOrd="0" presId="urn:microsoft.com/office/officeart/2009/3/layout/HorizontalOrganizationChart"/>
    <dgm:cxn modelId="{BEA1065E-7B24-44F9-A45B-6AE5DCE35ACD}" type="presOf" srcId="{3404FD92-4CF3-4946-9E03-919A3AFA3EEA}" destId="{AACC1F46-84C7-49E6-A336-F1654DFDA1AD}" srcOrd="0" destOrd="0" presId="urn:microsoft.com/office/officeart/2009/3/layout/HorizontalOrganizationChart"/>
    <dgm:cxn modelId="{435B8747-2D17-4890-8DFB-F0EAE0B62D38}" type="presOf" srcId="{31C05A5E-75D8-4039-BDBC-590EFE76AE36}" destId="{A5EDC301-FF0E-4CBC-AEE6-BF041725AAA7}" srcOrd="1" destOrd="0" presId="urn:microsoft.com/office/officeart/2009/3/layout/HorizontalOrganizationChart"/>
    <dgm:cxn modelId="{3A4B1B68-2E5C-402E-93A2-52E244A49630}" type="presOf" srcId="{226860A9-CA68-4602-8CF5-A8BC078BEA37}" destId="{245C6FA2-A6D0-4A78-ABA6-04C065BDAD0B}" srcOrd="1" destOrd="0" presId="urn:microsoft.com/office/officeart/2009/3/layout/HorizontalOrganizationChart"/>
    <dgm:cxn modelId="{A2DBCE75-4CBD-4596-935A-ED719B520D63}" srcId="{C912CA64-97E2-4D76-BF5F-F93349F3BF0F}" destId="{226860A9-CA68-4602-8CF5-A8BC078BEA37}" srcOrd="0" destOrd="0" parTransId="{2393BB1F-1F4F-4D50-95D8-172F5049B52B}" sibTransId="{381BB7BB-77D1-4329-896A-3EACD7FD2429}"/>
    <dgm:cxn modelId="{F0C35C7E-8C2C-41EE-9CB4-D38C3BA4219F}" type="presOf" srcId="{3404FD92-4CF3-4946-9E03-919A3AFA3EEA}" destId="{0900C185-0808-4CAE-81AA-ABBEF8E7293A}" srcOrd="1" destOrd="0" presId="urn:microsoft.com/office/officeart/2009/3/layout/HorizontalOrganizationChart"/>
    <dgm:cxn modelId="{80DE1E84-FDEC-4D56-9F8D-DCB2144501A3}" type="presOf" srcId="{13024CA2-09D7-46DB-9BBF-7B44B48C5CD4}" destId="{D7BB89B5-2C1C-4AD0-B0E8-97E59560F151}" srcOrd="0" destOrd="0" presId="urn:microsoft.com/office/officeart/2009/3/layout/HorizontalOrganizationChart"/>
    <dgm:cxn modelId="{546ED893-393B-43AC-B335-A41570645E0E}" type="presOf" srcId="{31C05A5E-75D8-4039-BDBC-590EFE76AE36}" destId="{1D36840F-FF52-449A-8338-E6B927ED0669}" srcOrd="0" destOrd="0" presId="urn:microsoft.com/office/officeart/2009/3/layout/HorizontalOrganizationChart"/>
    <dgm:cxn modelId="{2861B89B-DAE0-4C65-A536-D78B469BC6F1}" type="presOf" srcId="{2393BB1F-1F4F-4D50-95D8-172F5049B52B}" destId="{9AD3C31B-DAC0-4602-8153-16F85302DCFD}" srcOrd="0" destOrd="0" presId="urn:microsoft.com/office/officeart/2009/3/layout/HorizontalOrganizationChart"/>
    <dgm:cxn modelId="{C4BEC59B-4C20-47C0-AA11-748FB4F2835F}" srcId="{31C05A5E-75D8-4039-BDBC-590EFE76AE36}" destId="{C912CA64-97E2-4D76-BF5F-F93349F3BF0F}" srcOrd="0" destOrd="0" parTransId="{13024CA2-09D7-46DB-9BBF-7B44B48C5CD4}" sibTransId="{DE44A921-9BF0-4FF3-93E4-0B75ABB58CB6}"/>
    <dgm:cxn modelId="{60B8F7AB-B795-42EC-93FF-B905F86B2AB3}" srcId="{31C05A5E-75D8-4039-BDBC-590EFE76AE36}" destId="{3404FD92-4CF3-4946-9E03-919A3AFA3EEA}" srcOrd="1" destOrd="0" parTransId="{C4934EB2-2F4F-4F2F-9504-19DA4B048D2A}" sibTransId="{F0D2242F-B569-4CFC-B60F-56897F693EA4}"/>
    <dgm:cxn modelId="{BA91EEB9-D902-4E1E-A1B2-DBB8E38EE956}" type="presOf" srcId="{C912CA64-97E2-4D76-BF5F-F93349F3BF0F}" destId="{A4E49B30-DBBB-4F26-BF9B-31C8E7DDD828}" srcOrd="1" destOrd="0" presId="urn:microsoft.com/office/officeart/2009/3/layout/HorizontalOrganizationChart"/>
    <dgm:cxn modelId="{19EF9FC6-ABCC-4F4F-97A7-59C6B83204D9}" srcId="{DCA32034-3E64-4084-AD79-A52136DCEFC8}" destId="{31C05A5E-75D8-4039-BDBC-590EFE76AE36}" srcOrd="0" destOrd="0" parTransId="{0EF0C124-32E6-49F6-BAAA-E88AB1AD10F8}" sibTransId="{859A85A0-76B4-4696-8E7A-DCB80849B69F}"/>
    <dgm:cxn modelId="{17F6CACC-25C5-40D4-90A7-DBD8D67F2707}" srcId="{3404FD92-4CF3-4946-9E03-919A3AFA3EEA}" destId="{EB4B519C-4828-4A1F-9598-25EC68C4319C}" srcOrd="0" destOrd="0" parTransId="{8121E8BA-EEB2-4C6C-9258-E0F5934CF375}" sibTransId="{7CE03B29-4E43-423B-898C-6230506725AF}"/>
    <dgm:cxn modelId="{089445D5-43C4-4819-9160-57125F72FFDA}" type="presOf" srcId="{C912CA64-97E2-4D76-BF5F-F93349F3BF0F}" destId="{9286B055-A1AD-4E3E-B486-55166F0DBCA1}" srcOrd="0" destOrd="0" presId="urn:microsoft.com/office/officeart/2009/3/layout/HorizontalOrganizationChart"/>
    <dgm:cxn modelId="{C65917E9-E4C9-4DDD-B490-72BC9FCF0B3A}" type="presOf" srcId="{EB4B519C-4828-4A1F-9598-25EC68C4319C}" destId="{CEB203CA-8B93-4579-BD44-F88372043C32}" srcOrd="0" destOrd="0" presId="urn:microsoft.com/office/officeart/2009/3/layout/HorizontalOrganizationChart"/>
    <dgm:cxn modelId="{0E9CCB41-E2D2-44EE-9CEC-628E43A7D6BC}" type="presParOf" srcId="{FE71BEEF-CDD3-4AFE-93BE-2E40C2F48AD3}" destId="{04F2DCA1-A0DC-4F05-AB7E-35CF760DF5BB}" srcOrd="0" destOrd="0" presId="urn:microsoft.com/office/officeart/2009/3/layout/HorizontalOrganizationChart"/>
    <dgm:cxn modelId="{E17E02BB-997B-48B9-B707-022E4299B3BF}" type="presParOf" srcId="{04F2DCA1-A0DC-4F05-AB7E-35CF760DF5BB}" destId="{3FBA7570-699B-4732-925C-239E35BD44CC}" srcOrd="0" destOrd="0" presId="urn:microsoft.com/office/officeart/2009/3/layout/HorizontalOrganizationChart"/>
    <dgm:cxn modelId="{5EE93A9C-F850-481C-B200-E3D977CFDD53}" type="presParOf" srcId="{3FBA7570-699B-4732-925C-239E35BD44CC}" destId="{1D36840F-FF52-449A-8338-E6B927ED0669}" srcOrd="0" destOrd="0" presId="urn:microsoft.com/office/officeart/2009/3/layout/HorizontalOrganizationChart"/>
    <dgm:cxn modelId="{840DA021-5839-4CE9-B653-626420FE9286}" type="presParOf" srcId="{3FBA7570-699B-4732-925C-239E35BD44CC}" destId="{A5EDC301-FF0E-4CBC-AEE6-BF041725AAA7}" srcOrd="1" destOrd="0" presId="urn:microsoft.com/office/officeart/2009/3/layout/HorizontalOrganizationChart"/>
    <dgm:cxn modelId="{2A4EB1E7-DE52-4DF4-97B9-55AD321AE6D8}" type="presParOf" srcId="{04F2DCA1-A0DC-4F05-AB7E-35CF760DF5BB}" destId="{910048FF-023A-49EC-A03A-A2B40C10B069}" srcOrd="1" destOrd="0" presId="urn:microsoft.com/office/officeart/2009/3/layout/HorizontalOrganizationChart"/>
    <dgm:cxn modelId="{A4C68E94-E0FE-4BE3-AD2D-10B0FAF32570}" type="presParOf" srcId="{910048FF-023A-49EC-A03A-A2B40C10B069}" destId="{D7BB89B5-2C1C-4AD0-B0E8-97E59560F151}" srcOrd="0" destOrd="0" presId="urn:microsoft.com/office/officeart/2009/3/layout/HorizontalOrganizationChart"/>
    <dgm:cxn modelId="{18AC0826-9892-4B7D-B2B1-004FEE44BDD3}" type="presParOf" srcId="{910048FF-023A-49EC-A03A-A2B40C10B069}" destId="{94306489-DCA6-455B-B209-4DDD652C14EC}" srcOrd="1" destOrd="0" presId="urn:microsoft.com/office/officeart/2009/3/layout/HorizontalOrganizationChart"/>
    <dgm:cxn modelId="{3DB7B3AB-7EE1-4310-88D4-4C60131A93AF}" type="presParOf" srcId="{94306489-DCA6-455B-B209-4DDD652C14EC}" destId="{2905FD9C-2864-4F4D-8C46-E7D734D19094}" srcOrd="0" destOrd="0" presId="urn:microsoft.com/office/officeart/2009/3/layout/HorizontalOrganizationChart"/>
    <dgm:cxn modelId="{E5B6E807-21D9-4BCF-96DD-4B32FB336A94}" type="presParOf" srcId="{2905FD9C-2864-4F4D-8C46-E7D734D19094}" destId="{9286B055-A1AD-4E3E-B486-55166F0DBCA1}" srcOrd="0" destOrd="0" presId="urn:microsoft.com/office/officeart/2009/3/layout/HorizontalOrganizationChart"/>
    <dgm:cxn modelId="{501A7297-9995-4651-ABC5-440DA3630D80}" type="presParOf" srcId="{2905FD9C-2864-4F4D-8C46-E7D734D19094}" destId="{A4E49B30-DBBB-4F26-BF9B-31C8E7DDD828}" srcOrd="1" destOrd="0" presId="urn:microsoft.com/office/officeart/2009/3/layout/HorizontalOrganizationChart"/>
    <dgm:cxn modelId="{541C7394-D663-4FDB-8FE6-96B7D0DD7CA3}" type="presParOf" srcId="{94306489-DCA6-455B-B209-4DDD652C14EC}" destId="{463C3D8D-975A-4603-8F9F-D531A3163E7C}" srcOrd="1" destOrd="0" presId="urn:microsoft.com/office/officeart/2009/3/layout/HorizontalOrganizationChart"/>
    <dgm:cxn modelId="{8F8C3C8F-B507-4CD3-A0CE-AC451C9BC975}" type="presParOf" srcId="{463C3D8D-975A-4603-8F9F-D531A3163E7C}" destId="{9AD3C31B-DAC0-4602-8153-16F85302DCFD}" srcOrd="0" destOrd="0" presId="urn:microsoft.com/office/officeart/2009/3/layout/HorizontalOrganizationChart"/>
    <dgm:cxn modelId="{08144663-F260-430A-95CA-4F1EE9D9284C}" type="presParOf" srcId="{463C3D8D-975A-4603-8F9F-D531A3163E7C}" destId="{CB5BFA46-BC5F-4E97-8351-10918A1386D6}" srcOrd="1" destOrd="0" presId="urn:microsoft.com/office/officeart/2009/3/layout/HorizontalOrganizationChart"/>
    <dgm:cxn modelId="{679CD023-6E8F-4365-B2E9-FF890B1C3CE4}" type="presParOf" srcId="{CB5BFA46-BC5F-4E97-8351-10918A1386D6}" destId="{081D34FE-1050-428B-9BF6-4A1EA99C6159}" srcOrd="0" destOrd="0" presId="urn:microsoft.com/office/officeart/2009/3/layout/HorizontalOrganizationChart"/>
    <dgm:cxn modelId="{7E149F0D-3D81-492F-83D6-4A12B01FB1BA}" type="presParOf" srcId="{081D34FE-1050-428B-9BF6-4A1EA99C6159}" destId="{40315A23-B58A-422C-A51F-45E3E24DCF49}" srcOrd="0" destOrd="0" presId="urn:microsoft.com/office/officeart/2009/3/layout/HorizontalOrganizationChart"/>
    <dgm:cxn modelId="{DE71DAA2-9260-40CD-A759-4733B649D4D3}" type="presParOf" srcId="{081D34FE-1050-428B-9BF6-4A1EA99C6159}" destId="{245C6FA2-A6D0-4A78-ABA6-04C065BDAD0B}" srcOrd="1" destOrd="0" presId="urn:microsoft.com/office/officeart/2009/3/layout/HorizontalOrganizationChart"/>
    <dgm:cxn modelId="{49221D9A-484C-4CA0-AAA3-53749543E08A}" type="presParOf" srcId="{CB5BFA46-BC5F-4E97-8351-10918A1386D6}" destId="{3AF4EB01-FE90-4796-A692-961F94BEFD24}" srcOrd="1" destOrd="0" presId="urn:microsoft.com/office/officeart/2009/3/layout/HorizontalOrganizationChart"/>
    <dgm:cxn modelId="{59AB1610-A82E-42AF-9193-24D631DFFC3B}" type="presParOf" srcId="{CB5BFA46-BC5F-4E97-8351-10918A1386D6}" destId="{84C434DC-DC18-45F2-BE31-CFA59F46BB03}" srcOrd="2" destOrd="0" presId="urn:microsoft.com/office/officeart/2009/3/layout/HorizontalOrganizationChart"/>
    <dgm:cxn modelId="{790F295D-B418-4001-9353-0A05BF4747CD}" type="presParOf" srcId="{94306489-DCA6-455B-B209-4DDD652C14EC}" destId="{2160C2CD-FF09-466C-A426-9CF9AD99712C}" srcOrd="2" destOrd="0" presId="urn:microsoft.com/office/officeart/2009/3/layout/HorizontalOrganizationChart"/>
    <dgm:cxn modelId="{32882F9A-47DB-4EBD-8EE8-3B445CD7B077}" type="presParOf" srcId="{910048FF-023A-49EC-A03A-A2B40C10B069}" destId="{07A4936B-6474-46D5-8608-658CB3F741A1}" srcOrd="2" destOrd="0" presId="urn:microsoft.com/office/officeart/2009/3/layout/HorizontalOrganizationChart"/>
    <dgm:cxn modelId="{1EA81F61-170D-46E6-920D-C5F87072F8D9}" type="presParOf" srcId="{910048FF-023A-49EC-A03A-A2B40C10B069}" destId="{96DF3C6C-98B7-44AA-BF4B-3C6D02EEB737}" srcOrd="3" destOrd="0" presId="urn:microsoft.com/office/officeart/2009/3/layout/HorizontalOrganizationChart"/>
    <dgm:cxn modelId="{32404C4B-8B68-4451-ABD4-A0EF9A864F93}" type="presParOf" srcId="{96DF3C6C-98B7-44AA-BF4B-3C6D02EEB737}" destId="{506739DE-6332-44AB-9A81-B2094FF22C4B}" srcOrd="0" destOrd="0" presId="urn:microsoft.com/office/officeart/2009/3/layout/HorizontalOrganizationChart"/>
    <dgm:cxn modelId="{B11A29FD-3DC6-44FD-A23F-E896CB63CD63}" type="presParOf" srcId="{506739DE-6332-44AB-9A81-B2094FF22C4B}" destId="{AACC1F46-84C7-49E6-A336-F1654DFDA1AD}" srcOrd="0" destOrd="0" presId="urn:microsoft.com/office/officeart/2009/3/layout/HorizontalOrganizationChart"/>
    <dgm:cxn modelId="{A7F5B515-1F45-4A05-A286-B8FEA9D2296F}" type="presParOf" srcId="{506739DE-6332-44AB-9A81-B2094FF22C4B}" destId="{0900C185-0808-4CAE-81AA-ABBEF8E7293A}" srcOrd="1" destOrd="0" presId="urn:microsoft.com/office/officeart/2009/3/layout/HorizontalOrganizationChart"/>
    <dgm:cxn modelId="{8AB26EEC-DFA3-4F32-8377-872484295AA7}" type="presParOf" srcId="{96DF3C6C-98B7-44AA-BF4B-3C6D02EEB737}" destId="{024DF4EC-55EB-40D5-9E16-F8423880774F}" srcOrd="1" destOrd="0" presId="urn:microsoft.com/office/officeart/2009/3/layout/HorizontalOrganizationChart"/>
    <dgm:cxn modelId="{5C84CFE8-6876-42E4-8B6F-CB1A4EE078F9}" type="presParOf" srcId="{024DF4EC-55EB-40D5-9E16-F8423880774F}" destId="{71E90BEC-0441-45A4-A937-49F9DE2EAEA4}" srcOrd="0" destOrd="0" presId="urn:microsoft.com/office/officeart/2009/3/layout/HorizontalOrganizationChart"/>
    <dgm:cxn modelId="{85C7AD83-4781-450A-B0DA-1262F9720D73}" type="presParOf" srcId="{024DF4EC-55EB-40D5-9E16-F8423880774F}" destId="{3873872A-4A6B-4BB0-A2AA-4B9A6C42AC0B}" srcOrd="1" destOrd="0" presId="urn:microsoft.com/office/officeart/2009/3/layout/HorizontalOrganizationChart"/>
    <dgm:cxn modelId="{68D083CE-8A6A-4E57-A937-C03237AC916E}" type="presParOf" srcId="{3873872A-4A6B-4BB0-A2AA-4B9A6C42AC0B}" destId="{D05B3BF0-4A4A-4371-8E68-D72777D09A86}" srcOrd="0" destOrd="0" presId="urn:microsoft.com/office/officeart/2009/3/layout/HorizontalOrganizationChart"/>
    <dgm:cxn modelId="{ACF7EFD7-9A3E-4699-82C3-91FE35434443}" type="presParOf" srcId="{D05B3BF0-4A4A-4371-8E68-D72777D09A86}" destId="{CEB203CA-8B93-4579-BD44-F88372043C32}" srcOrd="0" destOrd="0" presId="urn:microsoft.com/office/officeart/2009/3/layout/HorizontalOrganizationChart"/>
    <dgm:cxn modelId="{B5AFDD51-3217-454D-B565-2AB75D7C724B}" type="presParOf" srcId="{D05B3BF0-4A4A-4371-8E68-D72777D09A86}" destId="{8E1F9AC4-204D-44AE-A452-84472AC23A77}" srcOrd="1" destOrd="0" presId="urn:microsoft.com/office/officeart/2009/3/layout/HorizontalOrganizationChart"/>
    <dgm:cxn modelId="{29BE26CF-9DC4-4E44-B6D8-5A4525E5DFBD}" type="presParOf" srcId="{3873872A-4A6B-4BB0-A2AA-4B9A6C42AC0B}" destId="{51A3E5B1-479B-4805-90AF-7CC5DCF1B428}" srcOrd="1" destOrd="0" presId="urn:microsoft.com/office/officeart/2009/3/layout/HorizontalOrganizationChart"/>
    <dgm:cxn modelId="{F45C481A-714B-4689-AFF2-FD7DEC1FAC9E}" type="presParOf" srcId="{3873872A-4A6B-4BB0-A2AA-4B9A6C42AC0B}" destId="{1B641915-624B-4491-B800-4D6BCA83D01F}" srcOrd="2" destOrd="0" presId="urn:microsoft.com/office/officeart/2009/3/layout/HorizontalOrganizationChart"/>
    <dgm:cxn modelId="{3E50B29F-DDFC-4127-9B8C-75255407DB74}" type="presParOf" srcId="{96DF3C6C-98B7-44AA-BF4B-3C6D02EEB737}" destId="{7579C501-7B97-4A28-8ECE-583783E7848C}" srcOrd="2" destOrd="0" presId="urn:microsoft.com/office/officeart/2009/3/layout/HorizontalOrganizationChart"/>
    <dgm:cxn modelId="{01750EA2-1B6D-443D-B24D-0AD2ACCAC705}" type="presParOf" srcId="{04F2DCA1-A0DC-4F05-AB7E-35CF760DF5BB}" destId="{007EE3CD-26BC-4750-B1AB-09BAE10894D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90BEC-0441-45A4-A937-49F9DE2EAEA4}">
      <dsp:nvSpPr>
        <dsp:cNvPr id="0" name=""/>
        <dsp:cNvSpPr/>
      </dsp:nvSpPr>
      <dsp:spPr>
        <a:xfrm>
          <a:off x="4535323" y="1535774"/>
          <a:ext cx="412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049" y="4572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A4936B-6474-46D5-8608-658CB3F741A1}">
      <dsp:nvSpPr>
        <dsp:cNvPr id="0" name=""/>
        <dsp:cNvSpPr/>
      </dsp:nvSpPr>
      <dsp:spPr>
        <a:xfrm>
          <a:off x="2063027" y="1138542"/>
          <a:ext cx="412049" cy="44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6024" y="0"/>
              </a:lnTo>
              <a:lnTo>
                <a:pt x="206024" y="442952"/>
              </a:lnTo>
              <a:lnTo>
                <a:pt x="412049" y="44295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D3C31B-DAC0-4602-8153-16F85302DCFD}">
      <dsp:nvSpPr>
        <dsp:cNvPr id="0" name=""/>
        <dsp:cNvSpPr/>
      </dsp:nvSpPr>
      <dsp:spPr>
        <a:xfrm>
          <a:off x="4535323" y="649869"/>
          <a:ext cx="412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049" y="4572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BB89B5-2C1C-4AD0-B0E8-97E59560F151}">
      <dsp:nvSpPr>
        <dsp:cNvPr id="0" name=""/>
        <dsp:cNvSpPr/>
      </dsp:nvSpPr>
      <dsp:spPr>
        <a:xfrm>
          <a:off x="2063027" y="695589"/>
          <a:ext cx="412049" cy="442952"/>
        </a:xfrm>
        <a:custGeom>
          <a:avLst/>
          <a:gdLst/>
          <a:ahLst/>
          <a:cxnLst/>
          <a:rect l="0" t="0" r="0" b="0"/>
          <a:pathLst>
            <a:path>
              <a:moveTo>
                <a:pt x="0" y="442952"/>
              </a:moveTo>
              <a:lnTo>
                <a:pt x="206024" y="442952"/>
              </a:lnTo>
              <a:lnTo>
                <a:pt x="206024" y="0"/>
              </a:lnTo>
              <a:lnTo>
                <a:pt x="412049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36840F-FF52-449A-8338-E6B927ED0669}">
      <dsp:nvSpPr>
        <dsp:cNvPr id="0" name=""/>
        <dsp:cNvSpPr/>
      </dsp:nvSpPr>
      <dsp:spPr>
        <a:xfrm>
          <a:off x="2781" y="594601"/>
          <a:ext cx="2060246" cy="10878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700" b="1" kern="1200"/>
            <a:t>Pelaksanaan 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700" b="1" kern="1200"/>
            <a:t>UAP</a:t>
          </a:r>
          <a:endParaRPr lang="en-US" sz="2700" b="1" kern="1200"/>
        </a:p>
      </dsp:txBody>
      <dsp:txXfrm>
        <a:off x="2781" y="594601"/>
        <a:ext cx="2060246" cy="1087880"/>
      </dsp:txXfrm>
    </dsp:sp>
    <dsp:sp modelId="{9286B055-A1AD-4E3E-B486-55166F0DBCA1}">
      <dsp:nvSpPr>
        <dsp:cNvPr id="0" name=""/>
        <dsp:cNvSpPr/>
      </dsp:nvSpPr>
      <dsp:spPr>
        <a:xfrm>
          <a:off x="2475076" y="381401"/>
          <a:ext cx="2060246" cy="6283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</a:t>
          </a:r>
          <a:r>
            <a:rPr lang="id-ID" sz="2700" kern="1200"/>
            <a:t> sks</a:t>
          </a:r>
          <a:endParaRPr lang="en-US" sz="2700" kern="1200"/>
        </a:p>
      </dsp:txBody>
      <dsp:txXfrm>
        <a:off x="2475076" y="381401"/>
        <a:ext cx="2060246" cy="628375"/>
      </dsp:txXfrm>
    </dsp:sp>
    <dsp:sp modelId="{40315A23-B58A-422C-A51F-45E3E24DCF49}">
      <dsp:nvSpPr>
        <dsp:cNvPr id="0" name=""/>
        <dsp:cNvSpPr/>
      </dsp:nvSpPr>
      <dsp:spPr>
        <a:xfrm>
          <a:off x="4947372" y="381401"/>
          <a:ext cx="2060246" cy="6283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700" kern="1200"/>
            <a:t>Pertemuan 6</a:t>
          </a:r>
          <a:endParaRPr lang="en-US" sz="2700" kern="1200"/>
        </a:p>
      </dsp:txBody>
      <dsp:txXfrm>
        <a:off x="4947372" y="381401"/>
        <a:ext cx="2060246" cy="628375"/>
      </dsp:txXfrm>
    </dsp:sp>
    <dsp:sp modelId="{AACC1F46-84C7-49E6-A336-F1654DFDA1AD}">
      <dsp:nvSpPr>
        <dsp:cNvPr id="0" name=""/>
        <dsp:cNvSpPr/>
      </dsp:nvSpPr>
      <dsp:spPr>
        <a:xfrm>
          <a:off x="2475076" y="1267307"/>
          <a:ext cx="2060246" cy="6283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</a:t>
          </a:r>
          <a:r>
            <a:rPr lang="id-ID" sz="2700" kern="1200"/>
            <a:t> sks</a:t>
          </a:r>
          <a:endParaRPr lang="en-US" sz="2700" kern="1200"/>
        </a:p>
      </dsp:txBody>
      <dsp:txXfrm>
        <a:off x="2475076" y="1267307"/>
        <a:ext cx="2060246" cy="628375"/>
      </dsp:txXfrm>
    </dsp:sp>
    <dsp:sp modelId="{CEB203CA-8B93-4579-BD44-F88372043C32}">
      <dsp:nvSpPr>
        <dsp:cNvPr id="0" name=""/>
        <dsp:cNvSpPr/>
      </dsp:nvSpPr>
      <dsp:spPr>
        <a:xfrm>
          <a:off x="4947372" y="1267307"/>
          <a:ext cx="2060246" cy="6283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700" kern="1200"/>
            <a:t>Pertemuan 12</a:t>
          </a:r>
          <a:endParaRPr lang="en-US" sz="2700" kern="1200"/>
        </a:p>
      </dsp:txBody>
      <dsp:txXfrm>
        <a:off x="4947372" y="1267307"/>
        <a:ext cx="2060246" cy="628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Newstream</a:t>
            </a:r>
            <a:r>
              <a:rPr lang="en-US"/>
              <a:t> / Announcement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ine.me/ti/g/g4aPasTVG6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600.notion.site/Library-Deep-Learning-2fcc6169225f41e888d706081541ad9d?pvs=4" TargetMode="External"/><Relationship Id="rId2" Type="http://schemas.openxmlformats.org/officeDocument/2006/relationships/hyperlink" Target="https://academic600.notion.site/Python-d4eb4bc11b6643149b2fcb05626dac8f?pvs=4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cademic600.notion.site/Visual-Studio-Code-7626bb82c4414111a542e66fe8e54ee1?pvs=4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binusmaya.binus.ac.id/" TargetMode="Externa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labfacility.apps.binus.ac.id/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bluejack.binus.ac.id/prk/" TargetMode="Externa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socs1.binus.ac.id/dbprk" TargetMode="Externa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socs1.binus.ac.id/quiz" TargetMode="Externa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laboratory.binus.ac.id/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mailto:slc@binus.edu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bluejack.binus.ac.id/prk/" TargetMode="Externa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linktr.ee/contactlsc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linktr.ee/OfficialAccountSLC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linktr.ee/slcbinusuniv" TargetMode="External"/><Relationship Id="rId5" Type="http://schemas.openxmlformats.org/officeDocument/2006/relationships/hyperlink" Target="http://labfacility.apps.binus.ac.id/" TargetMode="External"/><Relationship Id="rId4" Type="http://schemas.openxmlformats.org/officeDocument/2006/relationships/hyperlink" Target="https://bluejack.binus.ac.id/prk/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572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Arial"/>
                <a:cs typeface="Arial"/>
              </a:rPr>
              <a:t>COMP6826001</a:t>
            </a:r>
            <a:r>
              <a:rPr lang="id-ID" dirty="0">
                <a:latin typeface="Arial"/>
                <a:cs typeface="Arial"/>
              </a:rPr>
              <a:t> – </a:t>
            </a:r>
            <a:r>
              <a:rPr lang="en-US" dirty="0">
                <a:latin typeface="Arial"/>
                <a:cs typeface="Arial"/>
              </a:rPr>
              <a:t>Deep Learning</a:t>
            </a:r>
            <a:br>
              <a:rPr lang="id-ID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/>
                <a:cs typeface="Arial"/>
              </a:rPr>
              <a:t>BL01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 dirty="0">
                <a:latin typeface="Arial"/>
                <a:cs typeface="Arial"/>
              </a:rPr>
              <a:t> 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cs typeface="Arial"/>
              </a:rPr>
              <a:t>Angelina</a:t>
            </a:r>
            <a:r>
              <a:rPr lang="id-ID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Oktaviani</a:t>
            </a:r>
            <a:r>
              <a:rPr lang="en-US" sz="2400" dirty="0">
                <a:cs typeface="Arial"/>
              </a:rPr>
              <a:t> Putri</a:t>
            </a:r>
            <a:r>
              <a:rPr lang="id-ID" sz="2400" dirty="0">
                <a:cs typeface="Arial"/>
              </a:rPr>
              <a:t> (</a:t>
            </a:r>
            <a:r>
              <a:rPr lang="en-US" sz="2400" dirty="0">
                <a:cs typeface="Arial"/>
              </a:rPr>
              <a:t>AP26</a:t>
            </a:r>
            <a:r>
              <a:rPr lang="id-ID" sz="2400" dirty="0">
                <a:cs typeface="Arial"/>
              </a:rPr>
              <a:t>-</a:t>
            </a:r>
            <a:r>
              <a:rPr lang="en-US" sz="2400" dirty="0">
                <a:cs typeface="Arial"/>
              </a:rPr>
              <a:t>1</a:t>
            </a:r>
            <a:r>
              <a:rPr lang="id-ID" sz="2400" dirty="0">
                <a:cs typeface="Arial"/>
              </a:rPr>
              <a:t>) </a:t>
            </a:r>
            <a:br>
              <a:rPr lang="id-ID" sz="2400" dirty="0">
                <a:cs typeface="Arial" panose="020B0604020202020204" pitchFamily="34" charset="0"/>
              </a:rPr>
            </a:br>
            <a:r>
              <a:rPr lang="en-US" sz="2400" dirty="0">
                <a:cs typeface="Arial"/>
              </a:rPr>
              <a:t>Samuel Joseph Wijaya</a:t>
            </a:r>
            <a:r>
              <a:rPr lang="id-ID" sz="2400" dirty="0">
                <a:cs typeface="Arial"/>
              </a:rPr>
              <a:t> (</a:t>
            </a:r>
            <a:r>
              <a:rPr lang="en-US" sz="2400" dirty="0">
                <a:cs typeface="Arial"/>
              </a:rPr>
              <a:t>JJ26</a:t>
            </a:r>
            <a:r>
              <a:rPr lang="id-ID" sz="2400" dirty="0">
                <a:cs typeface="Arial"/>
              </a:rPr>
              <a:t>-</a:t>
            </a:r>
            <a:r>
              <a:rPr lang="en-US" sz="2400" dirty="0">
                <a:cs typeface="Arial"/>
              </a:rPr>
              <a:t>2</a:t>
            </a:r>
            <a:r>
              <a:rPr lang="id-ID" sz="2400" dirty="0">
                <a:cs typeface="Arial"/>
              </a:rPr>
              <a:t>)</a:t>
            </a: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r>
              <a:rPr lang="id-ID" sz="1800" dirty="0">
                <a:cs typeface="Arial"/>
              </a:rPr>
              <a:t>Software Laboratory Center Ganjil </a:t>
            </a:r>
            <a:r>
              <a:rPr lang="en-US" sz="1800" dirty="0">
                <a:cs typeface="Arial"/>
              </a:rPr>
              <a:t>2627</a:t>
            </a:r>
            <a:endParaRPr lang="en-US" sz="1800" dirty="0">
              <a:ea typeface="Open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134653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latin typeface="Open Sans"/>
              </a:rPr>
              <a:t>Mahasiswa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wajib</a:t>
            </a:r>
            <a:r>
              <a:rPr lang="en-US" sz="1600" dirty="0">
                <a:latin typeface="Open Sans"/>
              </a:rPr>
              <a:t> joi</a:t>
            </a:r>
            <a:r>
              <a:rPr lang="en-US" sz="1600" dirty="0"/>
              <a:t>n group LINE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koordinasi</a:t>
            </a:r>
            <a:r>
              <a:rPr lang="en-US" sz="1600" dirty="0"/>
              <a:t> </a:t>
            </a:r>
            <a:r>
              <a:rPr lang="en-US" sz="1600" dirty="0" err="1"/>
              <a:t>terkait</a:t>
            </a:r>
            <a:r>
              <a:rPr lang="en-US" sz="1600" dirty="0"/>
              <a:t>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.</a:t>
            </a:r>
            <a:endParaRPr lang="en-US" sz="1600" dirty="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Open Sans"/>
              </a:rPr>
              <a:t>Link Group: </a:t>
            </a:r>
            <a:r>
              <a:rPr lang="en-US" sz="1600" dirty="0">
                <a:hlinkClick r:id="rId2"/>
              </a:rPr>
              <a:t>https://line.me/ti/g/g4aPasTVG6</a:t>
            </a:r>
            <a:r>
              <a:rPr lang="en-US" sz="1600" dirty="0"/>
              <a:t> </a:t>
            </a:r>
            <a:endParaRPr lang="en-US" sz="1600" dirty="0">
              <a:highlight>
                <a:srgbClr val="FFFF00"/>
              </a:highlight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COMP6826001 – Deep Learning – BL01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2EB1E-8D33-1E67-D35A-641EB57EF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145" y="3276600"/>
            <a:ext cx="3181709" cy="318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COMP6826001 – Deep Learning – BL01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90B68B8-B43C-1A05-5A73-6CC640476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765292"/>
              </p:ext>
            </p:extLst>
          </p:nvPr>
        </p:nvGraphicFramePr>
        <p:xfrm>
          <a:off x="838201" y="2133600"/>
          <a:ext cx="7924793" cy="23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4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51465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2584528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err="1"/>
                        <a:t>Komponen</a:t>
                      </a:r>
                      <a:endParaRPr lang="en-US"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Bobot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Peserta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Durasi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100 </a:t>
                      </a:r>
                      <a:r>
                        <a:rPr lang="en-US" sz="1600" dirty="0" err="1"/>
                        <a:t>menit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awal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 </a:t>
                      </a:r>
                      <a:r>
                        <a:rPr lang="en-US" sz="1600" dirty="0" err="1"/>
                        <a:t>menit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awal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Proyek</a:t>
                      </a:r>
                      <a:endParaRPr lang="en-US" b="1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0%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243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8A7A9-A6E3-FF7A-93BD-530DD0684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835417"/>
              </p:ext>
            </p:extLst>
          </p:nvPr>
        </p:nvGraphicFramePr>
        <p:xfrm>
          <a:off x="838201" y="5082936"/>
          <a:ext cx="476896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293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653676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 tooltip="https://academic600.notion.site/Python-d4eb4bc11b6643149b2fcb05626dac8f?pvs=4"/>
                        </a:rPr>
                        <a:t>Python 3.10.9</a:t>
                      </a:r>
                      <a:endParaRPr lang="en-ID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D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https://academic600.notion.site/Library-Deep-Learning-2fcc6169225f41e888d706081541ad9d?pvs=4"/>
                        </a:rPr>
                        <a:t>Library Deep Learning 1.0</a:t>
                      </a:r>
                      <a:endParaRPr lang="en-ID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D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https://academic600.notion.site/Visual-Studio-Code-7626bb82c4414111a542e66fe8e54ee1?pvs=4"/>
                        </a:rPr>
                        <a:t>Visual Studio Code</a:t>
                      </a:r>
                      <a:endParaRPr lang="en-US" sz="1800" b="1" i="0" u="none" strike="noStrike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r>
                        <a:rPr lang="en-US" sz="18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ipynb</a:t>
                      </a:r>
                      <a:endParaRPr lang="en-US" dirty="0" err="1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07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83512"/>
              </p:ext>
            </p:extLst>
          </p:nvPr>
        </p:nvGraphicFramePr>
        <p:xfrm>
          <a:off x="1216882" y="1755787"/>
          <a:ext cx="7696199" cy="2804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5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7 Sep 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7 Sep – 19 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 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Proyek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/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20 – 22 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 2026</a:t>
                      </a:r>
                    </a:p>
                    <a:p>
                      <a:pPr lvl="0">
                        <a:buNone/>
                      </a:pP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Proyek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/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19 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Okt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 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Praktikum Rutin Hari Sabtu (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 6)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10 – 23 Des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29 Jan – 2 Feb 2027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717932"/>
              </p:ext>
            </p:extLst>
          </p:nvPr>
        </p:nvGraphicFramePr>
        <p:xfrm>
          <a:off x="1219200" y="1737360"/>
          <a:ext cx="7531096" cy="34287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4 Des 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(Termasuk Pengumuman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4 – 7 Des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12 Feb 2027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(Termasuk Pengumuman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12 – 15 Feb 2027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26 Feb 2027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26 Feb – 3 Mar 2027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Masa Konfirmasi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16 Mar 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Nilai Akhir Praktikum dan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784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74E488-1134-3455-2847-288A1094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70B3-AE7C-BF85-27AC-868F347E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Kehadiran</a:t>
            </a:r>
            <a:r>
              <a:rPr lang="en-US"/>
              <a:t> </a:t>
            </a:r>
            <a:r>
              <a:rPr lang="en-US" err="1"/>
              <a:t>Praktikum</a:t>
            </a:r>
            <a:r>
              <a:rPr lang="en-US"/>
              <a:t> (Online)</a:t>
            </a:r>
          </a:p>
        </p:txBody>
      </p:sp>
    </p:spTree>
    <p:extLst>
      <p:ext uri="{BB962C8B-B14F-4D97-AF65-F5344CB8AC3E}">
        <p14:creationId xmlns:p14="http://schemas.microsoft.com/office/powerpoint/2010/main" val="194955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B2555E-8EDE-AE7B-5A43-C327CBCF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7D39-3A4A-F49D-FB20-33E46F3CA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b="1" err="1"/>
              <a:t>metode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terdata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. </a:t>
            </a:r>
            <a:r>
              <a:rPr lang="en-US" sz="1600" b="1">
                <a:solidFill>
                  <a:srgbClr val="C00000"/>
                </a:solidFill>
              </a:rPr>
              <a:t>TIDAK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diperkenankan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untuk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mengikuti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kelas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secara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i="1">
                <a:solidFill>
                  <a:srgbClr val="C00000"/>
                </a:solidFill>
              </a:rPr>
              <a:t>online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untuk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pertemuan</a:t>
            </a:r>
            <a:r>
              <a:rPr lang="en-US" sz="1600">
                <a:solidFill>
                  <a:srgbClr val="C00000"/>
                </a:solidFill>
              </a:rPr>
              <a:t> yang </a:t>
            </a:r>
            <a:r>
              <a:rPr lang="en-US" sz="1600" err="1">
                <a:solidFill>
                  <a:srgbClr val="C00000"/>
                </a:solidFill>
              </a:rPr>
              <a:t>terlaksana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i="1">
                <a:solidFill>
                  <a:srgbClr val="C00000"/>
                </a:solidFill>
              </a:rPr>
              <a:t>onsite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Tanda </a:t>
            </a:r>
            <a:r>
              <a:rPr lang="en-US" sz="1600" err="1">
                <a:latin typeface="Open Sans"/>
              </a:rPr>
              <a:t>kehadiran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mahasis</a:t>
            </a:r>
            <a:r>
              <a:rPr lang="en-US" sz="1600" err="1"/>
              <a:t>wa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Masuk 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 Zoom Meeting </a:t>
            </a:r>
            <a:r>
              <a:rPr lang="en-US" sz="1400" err="1">
                <a:ea typeface="Open Sans"/>
                <a:cs typeface="Open Sans"/>
              </a:rPr>
              <a:t>menggunakan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akun</a:t>
            </a:r>
            <a:r>
              <a:rPr lang="en-US" sz="1400">
                <a:ea typeface="Open Sans"/>
                <a:cs typeface="Open Sans"/>
              </a:rPr>
              <a:t> Zoom </a:t>
            </a:r>
            <a:r>
              <a:rPr lang="en-US" sz="1400" b="1">
                <a:ea typeface="Open Sans"/>
                <a:cs typeface="Open Sans"/>
              </a:rPr>
              <a:t>binus.ac.id </a:t>
            </a:r>
            <a:r>
              <a:rPr lang="en-US" sz="1400">
                <a:ea typeface="Open Sans"/>
                <a:cs typeface="Open Sans"/>
              </a:rPr>
              <a:t>masing-masing 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 (</a:t>
            </a:r>
            <a:r>
              <a:rPr lang="en-US" sz="1400" err="1">
                <a:ea typeface="Open Sans"/>
                <a:cs typeface="Open Sans"/>
              </a:rPr>
              <a:t>khusus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 online).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b="1" err="1"/>
              <a:t>otomatis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, </a:t>
            </a:r>
            <a:r>
              <a:rPr lang="en-US" sz="1600" err="1"/>
              <a:t>tetapi</a:t>
            </a:r>
            <a:r>
              <a:rPr lang="en-US" sz="1600"/>
              <a:t> </a:t>
            </a:r>
            <a:r>
              <a:rPr lang="en-US" sz="1600" err="1"/>
              <a:t>bisa</a:t>
            </a:r>
            <a:r>
              <a:rPr lang="en-US" sz="1600"/>
              <a:t> </a:t>
            </a:r>
            <a:r>
              <a:rPr lang="en-US" sz="1600" err="1"/>
              <a:t>saja</a:t>
            </a:r>
            <a:r>
              <a:rPr lang="en-US" sz="1600"/>
              <a:t> </a:t>
            </a:r>
            <a:r>
              <a:rPr lang="en-US" sz="1600" b="1" err="1"/>
              <a:t>membutuhkan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beberapa</a:t>
            </a:r>
            <a:r>
              <a:rPr lang="en-US" sz="1600" b="1"/>
              <a:t> </a:t>
            </a:r>
            <a:r>
              <a:rPr lang="en-US" sz="1600" b="1" err="1"/>
              <a:t>hari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Mahasiswa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dinyatakan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hadir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apabila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hadir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di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tempat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dan 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mengikuti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dari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awal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hingga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akhir</a:t>
            </a:r>
            <a:r>
              <a:rPr lang="en-US" sz="1600" b="1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,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serta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memenuhi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panduan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kehadiran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yang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sudah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ditentukan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solidFill>
                <a:srgbClr val="000000"/>
              </a:solidFill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A868-FB1E-2802-5431-B13749F5BAF0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94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F6717F-9047-9996-11B1-C7B369CC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462A-6432-73C2-90EE-7782B40F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Mahasiswa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FF0000"/>
                </a:solidFill>
                <a:ea typeface="Open Sans"/>
                <a:cs typeface="Open Sans"/>
              </a:rPr>
              <a:t>dapat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FF0000"/>
                </a:solidFill>
                <a:ea typeface="Open Sans"/>
                <a:cs typeface="Open Sans"/>
              </a:rPr>
              <a:t>dinyatakan</a:t>
            </a:r>
            <a:r>
              <a:rPr lang="en-US" sz="1600" b="1">
                <a:solidFill>
                  <a:srgbClr val="FF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FF0000"/>
                </a:solidFill>
                <a:ea typeface="Open Sans"/>
                <a:cs typeface="Open Sans"/>
              </a:rPr>
              <a:t>tidak</a:t>
            </a:r>
            <a:r>
              <a:rPr lang="en-US" sz="1600" b="1">
                <a:solidFill>
                  <a:srgbClr val="FF0000"/>
                </a:solidFill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FF0000"/>
                </a:solidFill>
                <a:ea typeface="Open Sans"/>
                <a:cs typeface="Open Sans"/>
              </a:rPr>
              <a:t>hadir</a:t>
            </a:r>
            <a:r>
              <a:rPr lang="en-US" sz="1600" b="1">
                <a:solidFill>
                  <a:srgbClr val="FF0000"/>
                </a:solidFill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000000"/>
                </a:solidFill>
                <a:ea typeface="Open Sans"/>
                <a:cs typeface="Open Sans"/>
              </a:rPr>
              <a:t>apabila</a:t>
            </a:r>
            <a:r>
              <a:rPr lang="en-US" sz="1600">
                <a:solidFill>
                  <a:srgbClr val="000000"/>
                </a:solidFill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mengikuti</a:t>
            </a:r>
            <a:r>
              <a:rPr lang="en-US" sz="1400">
                <a:ea typeface="Open Sans"/>
                <a:cs typeface="Open Sans"/>
              </a:rPr>
              <a:t> video conference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dari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awal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hingga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akhir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sesi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berjaga</a:t>
            </a:r>
            <a:r>
              <a:rPr lang="en-US" sz="1600">
                <a:ea typeface="Open Sans"/>
                <a:cs typeface="Open Sans"/>
              </a:rPr>
              <a:t>-jaga, </a:t>
            </a: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menyimpan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bukti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kehadiran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seperti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screenshot</a:t>
            </a:r>
            <a:r>
              <a:rPr lang="en-US" sz="1600">
                <a:ea typeface="Open Sans"/>
                <a:cs typeface="Open Sans"/>
              </a:rPr>
              <a:t> join Zoom Meeting di </a:t>
            </a:r>
            <a:r>
              <a:rPr lang="en-US" sz="1600" err="1">
                <a:ea typeface="Open Sans"/>
                <a:cs typeface="Open Sans"/>
              </a:rPr>
              <a:t>awal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akhir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pengajaran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i="1">
                <a:ea typeface="Open Sans"/>
                <a:cs typeface="Open Sans"/>
              </a:rPr>
              <a:t>screenshot</a:t>
            </a:r>
            <a:r>
              <a:rPr lang="en-US" sz="1600">
                <a:ea typeface="Open Sans"/>
                <a:cs typeface="Open Sans"/>
              </a:rPr>
              <a:t>  </a:t>
            </a:r>
            <a:r>
              <a:rPr lang="en-US" sz="1600" i="1">
                <a:ea typeface="Open Sans"/>
                <a:cs typeface="Open Sans"/>
              </a:rPr>
              <a:t>classroom check-in</a:t>
            </a:r>
            <a:r>
              <a:rPr lang="en-US" sz="1600">
                <a:ea typeface="Open Sans"/>
                <a:cs typeface="Open Sans"/>
              </a:rPr>
              <a:t>, dan lain </a:t>
            </a:r>
            <a:r>
              <a:rPr lang="en-US" sz="1600" err="1">
                <a:ea typeface="Open Sans"/>
                <a:cs typeface="Open Sans"/>
              </a:rPr>
              <a:t>sebagainya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Arial,Sans-Serif" pitchFamily="34" charset="0"/>
            </a:pPr>
            <a:r>
              <a:rPr lang="id-ID" sz="1600">
                <a:ea typeface="Open Sans"/>
                <a:cs typeface="Open Sans"/>
              </a:rPr>
              <a:t>Pengajar </a:t>
            </a:r>
            <a:r>
              <a:rPr lang="id-ID" sz="1600" b="1">
                <a:ea typeface="Open Sans"/>
                <a:cs typeface="Open Sans"/>
              </a:rPr>
              <a:t>tidak</a:t>
            </a:r>
            <a:r>
              <a:rPr lang="id-ID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ber</a:t>
            </a:r>
            <a:r>
              <a:rPr lang="id-ID" sz="1600">
                <a:ea typeface="Open Sans"/>
                <a:cs typeface="Open Sans"/>
              </a:rPr>
              <a:t>wenang memberikan </a:t>
            </a:r>
            <a:r>
              <a:rPr lang="en-US" sz="1600" b="1" err="1">
                <a:ea typeface="Open Sans"/>
                <a:cs typeface="Open Sans"/>
              </a:rPr>
              <a:t>izin</a:t>
            </a:r>
            <a:r>
              <a:rPr lang="id-ID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ketidakhadiran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id-ID" sz="1600">
                <a:ea typeface="Open Sans"/>
                <a:cs typeface="Open Sans"/>
              </a:rPr>
              <a:t>kepada mahasiswa.</a:t>
            </a:r>
            <a:endParaRPr lang="en-US">
              <a:ea typeface="Open Sans"/>
              <a:cs typeface="Open Sans"/>
            </a:endParaRPr>
          </a:p>
          <a:p>
            <a:pPr marL="685800" lvl="1" indent="-285750" algn="just">
              <a:lnSpc>
                <a:spcPct val="150000"/>
              </a:lnSpc>
              <a:spcBef>
                <a:spcPts val="0"/>
              </a:spcBef>
              <a:buFont typeface="Calibri" pitchFamily="34" charset="0"/>
              <a:buChar char="-"/>
            </a:pPr>
            <a:r>
              <a:rPr lang="id-ID" sz="1400">
                <a:ea typeface="Open Sans"/>
                <a:cs typeface="Open Sans"/>
              </a:rPr>
              <a:t>Menginformasikan ketidakhadiran ke pengajar</a:t>
            </a:r>
            <a:r>
              <a:rPr lang="id-ID" sz="1400" b="1">
                <a:ea typeface="Open Sans"/>
                <a:cs typeface="Open Sans"/>
              </a:rPr>
              <a:t> tidak dianggap</a:t>
            </a:r>
            <a:r>
              <a:rPr lang="id-ID" sz="1400">
                <a:ea typeface="Open Sans"/>
                <a:cs typeface="Open Sans"/>
              </a:rPr>
              <a:t> sebagai bentuk izin ketidakhadiran mahasiswa.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</a:pPr>
            <a:r>
              <a:rPr lang="id-ID" sz="1600">
                <a:ea typeface="Open Sans"/>
                <a:cs typeface="Open Sans"/>
              </a:rPr>
              <a:t>Jika ingin izin, mahasiswa dapat menggunakan </a:t>
            </a:r>
            <a:r>
              <a:rPr lang="id-ID" sz="1600" b="1">
                <a:ea typeface="Open Sans"/>
                <a:cs typeface="Open Sans"/>
              </a:rPr>
              <a:t>batas ketidakhadiran praktikum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>
                <a:ea typeface="Open Sans"/>
                <a:cs typeface="Open Sans"/>
              </a:rPr>
              <a:t>yang </a:t>
            </a:r>
            <a:r>
              <a:rPr lang="en-US" sz="1600" err="1">
                <a:ea typeface="Open Sans"/>
                <a:cs typeface="Open Sans"/>
              </a:rPr>
              <a:t>tersedia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mata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kuliah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terkait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id-ID" sz="1600">
              <a:latin typeface="Arial"/>
              <a:ea typeface="Open Sans"/>
              <a:cs typeface="Arial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400">
                <a:ea typeface="Open Sans"/>
                <a:cs typeface="Open Sans"/>
              </a:rPr>
              <a:t>  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1551D-EAA6-C9DD-9624-E7FFC2410488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+mn-lt"/>
                <a:cs typeface="+mn-lt"/>
              </a:rPr>
              <a:t>(Cont.)</a:t>
            </a:r>
            <a:endParaRPr lang="en-US" sz="3000" b="1">
              <a:solidFill>
                <a:srgbClr val="0079B8"/>
              </a:solidFill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9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99" y="792162"/>
            <a:ext cx="7927848" cy="731838"/>
          </a:xfrm>
        </p:spPr>
        <p:txBody>
          <a:bodyPr>
            <a:normAutofit/>
          </a:bodyPr>
          <a:lstStyle/>
          <a:p>
            <a:r>
              <a:rPr lang="id-ID"/>
              <a:t>Kehadiran Praktikum </a:t>
            </a:r>
            <a:r>
              <a:rPr lang="en-US"/>
              <a:t>(Cont.)</a:t>
            </a:r>
            <a:r>
              <a:rPr lang="id-ID"/>
              <a:t> 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66800" y="1524000"/>
            <a:ext cx="7696200" cy="51990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err="1">
                <a:latin typeface="Open Sans"/>
                <a:ea typeface="+mn-lt"/>
                <a:cs typeface="+mn-lt"/>
              </a:rPr>
              <a:t>Kehadiran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mahasiswa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berpengaruh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terhadap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kelayakan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mengikuti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ujian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apabila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melewati</a:t>
            </a:r>
            <a:r>
              <a:rPr lang="en-US" sz="1600" b="1">
                <a:latin typeface="Open Sans"/>
                <a:ea typeface="+mn-lt"/>
                <a:cs typeface="+mn-lt"/>
              </a:rPr>
              <a:t> batas </a:t>
            </a:r>
            <a:r>
              <a:rPr lang="en-US" sz="1600" b="1" err="1">
                <a:latin typeface="Open Sans"/>
                <a:ea typeface="+mn-lt"/>
                <a:cs typeface="+mn-lt"/>
              </a:rPr>
              <a:t>ketidakhadiran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mata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kuliah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teori</a:t>
            </a:r>
            <a:r>
              <a:rPr lang="en-US" sz="1600">
                <a:latin typeface="Open Sans"/>
                <a:ea typeface="+mn-lt"/>
                <a:cs typeface="+mn-lt"/>
              </a:rPr>
              <a:t>  </a:t>
            </a:r>
            <a:r>
              <a:rPr lang="en-US" sz="1600" err="1">
                <a:latin typeface="Open Sans"/>
                <a:ea typeface="+mn-lt"/>
                <a:cs typeface="+mn-lt"/>
              </a:rPr>
              <a:t>maupun</a:t>
            </a:r>
            <a:r>
              <a:rPr lang="en-US" sz="1600">
                <a:latin typeface="Open Sans"/>
                <a:ea typeface="+mn-lt"/>
                <a:cs typeface="+mn-lt"/>
              </a:rPr>
              <a:t>  </a:t>
            </a:r>
            <a:r>
              <a:rPr lang="en-US" sz="1600" err="1">
                <a:latin typeface="Open Sans"/>
                <a:ea typeface="+mn-lt"/>
                <a:cs typeface="+mn-lt"/>
              </a:rPr>
              <a:t>praktikum</a:t>
            </a:r>
            <a:r>
              <a:rPr lang="en-US" sz="1600">
                <a:latin typeface="Open Sans"/>
                <a:ea typeface="+mn-lt"/>
                <a:cs typeface="+mn-lt"/>
              </a:rPr>
              <a:t>, </a:t>
            </a:r>
            <a:r>
              <a:rPr lang="en-US" sz="1600" err="1">
                <a:latin typeface="Open Sans"/>
                <a:ea typeface="+mn-lt"/>
                <a:cs typeface="+mn-lt"/>
              </a:rPr>
              <a:t>mahasiswa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tidak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diperkenankan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mengikuti</a:t>
            </a:r>
            <a:r>
              <a:rPr lang="en-US" sz="1600" b="1">
                <a:latin typeface="Open Sans"/>
                <a:ea typeface="+mn-lt"/>
                <a:cs typeface="+mn-lt"/>
              </a:rPr>
              <a:t> </a:t>
            </a:r>
            <a:r>
              <a:rPr lang="en-US" sz="1600" b="1" err="1">
                <a:latin typeface="Open Sans"/>
                <a:ea typeface="+mn-lt"/>
                <a:cs typeface="+mn-lt"/>
              </a:rPr>
              <a:t>ujian</a:t>
            </a:r>
            <a:r>
              <a:rPr lang="en-US" sz="1600" b="1">
                <a:latin typeface="Open Sans"/>
                <a:ea typeface="+mn-lt"/>
                <a:cs typeface="+mn-lt"/>
              </a:rPr>
              <a:t>  </a:t>
            </a:r>
            <a:r>
              <a:rPr lang="en-US" sz="1600">
                <a:latin typeface="Open Sans"/>
                <a:ea typeface="+mn-lt"/>
                <a:cs typeface="+mn-lt"/>
              </a:rPr>
              <a:t>(</a:t>
            </a:r>
            <a:r>
              <a:rPr lang="en-US" sz="1600" err="1">
                <a:latin typeface="Open Sans"/>
                <a:ea typeface="+mn-lt"/>
                <a:cs typeface="+mn-lt"/>
              </a:rPr>
              <a:t>teori</a:t>
            </a:r>
            <a:r>
              <a:rPr lang="en-US" sz="1600">
                <a:latin typeface="Open Sans"/>
                <a:ea typeface="+mn-lt"/>
                <a:cs typeface="+mn-lt"/>
              </a:rPr>
              <a:t>  </a:t>
            </a:r>
            <a:r>
              <a:rPr lang="en-US" sz="1600" err="1">
                <a:latin typeface="Open Sans"/>
                <a:ea typeface="+mn-lt"/>
                <a:cs typeface="+mn-lt"/>
              </a:rPr>
              <a:t>maupun</a:t>
            </a:r>
            <a:r>
              <a:rPr lang="en-US" sz="1600">
                <a:latin typeface="Open Sans"/>
                <a:ea typeface="+mn-lt"/>
                <a:cs typeface="+mn-lt"/>
              </a:rPr>
              <a:t> </a:t>
            </a:r>
            <a:r>
              <a:rPr lang="en-US" sz="1600" err="1">
                <a:latin typeface="Open Sans"/>
                <a:ea typeface="+mn-lt"/>
                <a:cs typeface="+mn-lt"/>
              </a:rPr>
              <a:t>praktikum</a:t>
            </a:r>
            <a:r>
              <a:rPr lang="en-US" sz="1600">
                <a:latin typeface="Open Sans"/>
                <a:ea typeface="+mn-lt"/>
                <a:cs typeface="+mn-lt"/>
              </a:rPr>
              <a:t>).</a:t>
            </a:r>
            <a:endParaRPr lang="en-US" sz="1600">
              <a:latin typeface="Open Sans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>
                <a:latin typeface="Open Sans"/>
              </a:rPr>
              <a:t>Data </a:t>
            </a:r>
            <a:r>
              <a:rPr lang="en-US" sz="1600" err="1">
                <a:latin typeface="Open Sans"/>
              </a:rPr>
              <a:t>kehadiran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mahasiswa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dicek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melalui</a:t>
            </a:r>
            <a:r>
              <a:rPr lang="en-US" sz="1600">
                <a:latin typeface="Open Sans"/>
              </a:rPr>
              <a:t>:</a:t>
            </a:r>
            <a:endParaRPr lang="en-US" sz="16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b="1" err="1">
                <a:latin typeface="Open Sans"/>
              </a:rPr>
              <a:t>Binusmaya</a:t>
            </a:r>
            <a:r>
              <a:rPr lang="en-US" sz="1400" b="1">
                <a:latin typeface="Open Sans"/>
              </a:rPr>
              <a:t> </a:t>
            </a:r>
            <a:r>
              <a:rPr lang="en-US" sz="1400">
                <a:latin typeface="Open Sans"/>
              </a:rPr>
              <a:t>(menu </a:t>
            </a:r>
            <a:r>
              <a:rPr lang="en-US" sz="1400" b="1">
                <a:latin typeface="Open Sans"/>
              </a:rPr>
              <a:t>Learning &gt; Attendance Information</a:t>
            </a:r>
            <a:r>
              <a:rPr lang="en-US" sz="1400">
                <a:latin typeface="Open Sans"/>
              </a:rPr>
              <a:t>)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b="1" err="1">
                <a:latin typeface="Open Sans"/>
              </a:rPr>
              <a:t>BinusMobile</a:t>
            </a:r>
            <a:r>
              <a:rPr lang="en-US" sz="1400">
                <a:latin typeface="Open Sans"/>
              </a:rPr>
              <a:t> (menu </a:t>
            </a:r>
            <a:r>
              <a:rPr lang="en-US" sz="1400" b="1">
                <a:latin typeface="Open Sans"/>
              </a:rPr>
              <a:t>Attendance</a:t>
            </a:r>
            <a:r>
              <a:rPr lang="en-US" sz="1400">
                <a:latin typeface="Open Sans"/>
              </a:rPr>
              <a:t>)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endParaRPr lang="en-US" sz="16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endParaRPr lang="en-US" sz="16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endParaRPr lang="en-US" sz="16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endParaRPr lang="en-US" sz="1600">
              <a:latin typeface="Open Sans"/>
              <a:ea typeface="Open Sans"/>
              <a:cs typeface="Open Sans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endParaRPr lang="en-US" sz="1600">
              <a:latin typeface="Open Sans"/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n-US" sz="1600">
              <a:latin typeface="Open Sans"/>
              <a:ea typeface="Open Sans"/>
              <a:cs typeface="Open San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F21671-19B0-1043-6ABB-D8E70E393C02}"/>
              </a:ext>
            </a:extLst>
          </p:cNvPr>
          <p:cNvGrpSpPr/>
          <p:nvPr/>
        </p:nvGrpSpPr>
        <p:grpSpPr>
          <a:xfrm>
            <a:off x="1064990" y="4846714"/>
            <a:ext cx="3200400" cy="532885"/>
            <a:chOff x="1600200" y="4389980"/>
            <a:chExt cx="3733800" cy="61276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E607F6A-4229-6A01-CB25-27C716DA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200" y="4389980"/>
              <a:ext cx="3733800" cy="612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5" name="Rounded Rectangle 7">
              <a:extLst>
                <a:ext uri="{FF2B5EF4-FFF2-40B4-BE49-F238E27FC236}">
                  <a16:creationId xmlns:a16="http://schemas.microsoft.com/office/drawing/2014/main" id="{6A6C0DD9-3498-1BB2-E3AB-2A12B3AC389A}"/>
                </a:ext>
              </a:extLst>
            </p:cNvPr>
            <p:cNvSpPr/>
            <p:nvPr/>
          </p:nvSpPr>
          <p:spPr>
            <a:xfrm>
              <a:off x="3527904" y="4533189"/>
              <a:ext cx="1501296" cy="27945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CC1C5B8-E163-062B-258A-671A3744D65C}"/>
              </a:ext>
            </a:extLst>
          </p:cNvPr>
          <p:cNvGrpSpPr/>
          <p:nvPr/>
        </p:nvGrpSpPr>
        <p:grpSpPr>
          <a:xfrm>
            <a:off x="4650135" y="4534141"/>
            <a:ext cx="3909740" cy="1592032"/>
            <a:chOff x="5532451" y="3970419"/>
            <a:chExt cx="4625415" cy="188345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52E6F54-EA8E-218A-659F-B49F99C8AD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95" t="7653" b="52183"/>
            <a:stretch/>
          </p:blipFill>
          <p:spPr>
            <a:xfrm>
              <a:off x="5532451" y="3970419"/>
              <a:ext cx="3101476" cy="14722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8" name="Rounded Rectangle 7">
              <a:extLst>
                <a:ext uri="{FF2B5EF4-FFF2-40B4-BE49-F238E27FC236}">
                  <a16:creationId xmlns:a16="http://schemas.microsoft.com/office/drawing/2014/main" id="{6B21F637-9B63-7C2A-520B-DB18A802AB71}"/>
                </a:ext>
              </a:extLst>
            </p:cNvPr>
            <p:cNvSpPr/>
            <p:nvPr/>
          </p:nvSpPr>
          <p:spPr>
            <a:xfrm>
              <a:off x="6324600" y="4164591"/>
              <a:ext cx="731851" cy="68652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B28B762-6D49-ECF9-41C8-CD74AE775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9119" y="4101120"/>
              <a:ext cx="3078747" cy="17527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9851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Kehadiran</a:t>
            </a:r>
            <a:r>
              <a:rPr lang="en-US"/>
              <a:t> </a:t>
            </a:r>
            <a:r>
              <a:rPr lang="en-US" err="1"/>
              <a:t>Praktikum</a:t>
            </a:r>
            <a:r>
              <a:rPr lang="en-US"/>
              <a:t> (Onsite)</a:t>
            </a:r>
          </a:p>
        </p:txBody>
      </p:sp>
    </p:spTree>
    <p:extLst>
      <p:ext uri="{BB962C8B-B14F-4D97-AF65-F5344CB8AC3E}">
        <p14:creationId xmlns:p14="http://schemas.microsoft.com/office/powerpoint/2010/main" val="2610600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b="1" err="1"/>
              <a:t>metode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terdata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. </a:t>
            </a:r>
            <a:r>
              <a:rPr lang="en-US" sz="1600" b="1">
                <a:solidFill>
                  <a:srgbClr val="C00000"/>
                </a:solidFill>
              </a:rPr>
              <a:t>TIDAK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diperkenankan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untuk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mengikuti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kelas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secara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i="1">
                <a:solidFill>
                  <a:srgbClr val="C00000"/>
                </a:solidFill>
              </a:rPr>
              <a:t>online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untuk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pertemuan</a:t>
            </a:r>
            <a:r>
              <a:rPr lang="en-US" sz="1600">
                <a:solidFill>
                  <a:srgbClr val="C00000"/>
                </a:solidFill>
              </a:rPr>
              <a:t> yang </a:t>
            </a:r>
            <a:r>
              <a:rPr lang="en-US" sz="1600" err="1">
                <a:solidFill>
                  <a:srgbClr val="C00000"/>
                </a:solidFill>
              </a:rPr>
              <a:t>terlaksana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i="1">
                <a:solidFill>
                  <a:srgbClr val="C00000"/>
                </a:solidFill>
              </a:rPr>
              <a:t>onsite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Tanda </a:t>
            </a:r>
            <a:r>
              <a:rPr lang="en-US" sz="1600" err="1">
                <a:latin typeface="Open Sans"/>
              </a:rPr>
              <a:t>kehadiran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mahasis</a:t>
            </a:r>
            <a:r>
              <a:rPr lang="en-US" sz="1600" err="1"/>
              <a:t>wa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Melakukan</a:t>
            </a:r>
            <a:r>
              <a:rPr lang="en-US" sz="1400">
                <a:latin typeface="Open Sans"/>
              </a:rPr>
              <a:t> </a:t>
            </a:r>
            <a:r>
              <a:rPr lang="en-US" sz="1400" b="1" i="1">
                <a:latin typeface="Open Sans"/>
              </a:rPr>
              <a:t>classroom attendance </a:t>
            </a:r>
            <a:r>
              <a:rPr lang="en-US" sz="1400" err="1">
                <a:latin typeface="Open Sans"/>
              </a:rPr>
              <a:t>menggunakan</a:t>
            </a:r>
            <a:r>
              <a:rPr lang="en-US" sz="1400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wifi</a:t>
            </a:r>
            <a:r>
              <a:rPr lang="en-US" sz="1400" b="1">
                <a:latin typeface="Open Sans"/>
              </a:rPr>
              <a:t> Binus Access </a:t>
            </a:r>
            <a:r>
              <a:rPr lang="en-US" sz="1400" err="1">
                <a:latin typeface="Open Sans"/>
              </a:rPr>
              <a:t>sesuai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dengan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ketentuan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penyelenggaraan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perkuliahan</a:t>
            </a:r>
            <a:r>
              <a:rPr lang="en-US" sz="1400">
                <a:latin typeface="Open Sans"/>
              </a:rPr>
              <a:t> yang </a:t>
            </a:r>
            <a:r>
              <a:rPr lang="en-US" sz="1400" err="1">
                <a:latin typeface="Open Sans"/>
              </a:rPr>
              <a:t>berlaku</a:t>
            </a:r>
            <a:r>
              <a:rPr lang="en-US" sz="1400">
                <a:latin typeface="Open Sans"/>
              </a:rPr>
              <a:t> (</a:t>
            </a:r>
            <a:r>
              <a:rPr lang="en-US" sz="1400" err="1">
                <a:latin typeface="Open Sans"/>
              </a:rPr>
              <a:t>untuk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tatap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muka</a:t>
            </a:r>
            <a:r>
              <a:rPr lang="en-US" sz="1400">
                <a:latin typeface="Open Sans"/>
              </a:rPr>
              <a:t>).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/>
              <a:t>Login </a:t>
            </a:r>
            <a:r>
              <a:rPr lang="en-US" sz="1400" err="1"/>
              <a:t>ke</a:t>
            </a:r>
            <a:r>
              <a:rPr lang="en-US" sz="1400"/>
              <a:t> lab.slc.net </a:t>
            </a:r>
            <a:r>
              <a:rPr lang="en-US" sz="1400" err="1"/>
              <a:t>dengan</a:t>
            </a:r>
            <a:r>
              <a:rPr lang="en-US" sz="1400"/>
              <a:t> </a:t>
            </a:r>
            <a:r>
              <a:rPr lang="en-US" sz="1400" err="1"/>
              <a:t>menggunakan</a:t>
            </a:r>
            <a:r>
              <a:rPr lang="en-US" sz="1400"/>
              <a:t> NIM dan password </a:t>
            </a:r>
            <a:r>
              <a:rPr lang="en-US" sz="1400" err="1"/>
              <a:t>bimay</a:t>
            </a:r>
            <a:endParaRPr lang="en-US" sz="1400" err="1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Jangan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lupa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menyimpan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bukti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berupa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screenshot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sebagai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tanda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 c</a:t>
            </a:r>
            <a:r>
              <a:rPr lang="en-US" sz="1600" i="1">
                <a:ea typeface="Open Sans"/>
                <a:cs typeface="Open Sans"/>
              </a:rPr>
              <a:t>lassroom attendance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b="1" err="1"/>
              <a:t>otomatis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, </a:t>
            </a:r>
            <a:r>
              <a:rPr lang="en-US" sz="1600" err="1"/>
              <a:t>tetapi</a:t>
            </a:r>
            <a:r>
              <a:rPr lang="en-US" sz="1600"/>
              <a:t> </a:t>
            </a:r>
            <a:r>
              <a:rPr lang="en-US" sz="1600" err="1"/>
              <a:t>bisa</a:t>
            </a:r>
            <a:r>
              <a:rPr lang="en-US" sz="1600"/>
              <a:t> </a:t>
            </a:r>
            <a:r>
              <a:rPr lang="en-US" sz="1600" err="1"/>
              <a:t>saja</a:t>
            </a:r>
            <a:r>
              <a:rPr lang="en-US" sz="1600"/>
              <a:t> </a:t>
            </a:r>
            <a:r>
              <a:rPr lang="en-US" sz="1600" b="1" err="1"/>
              <a:t>membutuhkan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beberapa</a:t>
            </a:r>
            <a:r>
              <a:rPr lang="en-US" sz="1600" b="1"/>
              <a:t> </a:t>
            </a:r>
            <a:r>
              <a:rPr lang="en-US" sz="1600" b="1" err="1"/>
              <a:t>hari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1" y="1600200"/>
            <a:ext cx="7699249" cy="55399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Durasi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: 100 </a:t>
            </a:r>
            <a:r>
              <a:rPr lang="en-US" sz="1600" err="1"/>
              <a:t>menit</a:t>
            </a:r>
            <a:r>
              <a:rPr lang="en-US" sz="1600"/>
              <a:t> (</a:t>
            </a:r>
            <a:r>
              <a:rPr lang="en-US" sz="1600" err="1"/>
              <a:t>berakhir</a:t>
            </a:r>
            <a:r>
              <a:rPr lang="en-US" sz="1600"/>
              <a:t> di </a:t>
            </a:r>
            <a:r>
              <a:rPr lang="en-US" sz="1600" err="1"/>
              <a:t>menit</a:t>
            </a:r>
            <a:r>
              <a:rPr lang="en-US" sz="1600"/>
              <a:t> 00)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AF0196-370B-3C98-8343-5204BB4F9B31}"/>
              </a:ext>
            </a:extLst>
          </p:cNvPr>
          <p:cNvSpPr txBox="1">
            <a:spLocks/>
          </p:cNvSpPr>
          <p:nvPr/>
        </p:nvSpPr>
        <p:spPr>
          <a:xfrm>
            <a:off x="1063751" y="2245063"/>
            <a:ext cx="7696201" cy="1183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diimbau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hadir</a:t>
            </a:r>
            <a:r>
              <a:rPr lang="en-US" sz="1600"/>
              <a:t> 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b="1"/>
              <a:t>15 </a:t>
            </a:r>
            <a:r>
              <a:rPr lang="en-US" sz="1600" b="1" err="1"/>
              <a:t>menit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dimulai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dinyatakan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memenuhi</a:t>
            </a:r>
            <a:r>
              <a:rPr lang="en-US" sz="1600"/>
              <a:t> </a:t>
            </a:r>
            <a:r>
              <a:rPr lang="en-US" sz="1600" b="1" err="1"/>
              <a:t>kriteria</a:t>
            </a:r>
            <a:r>
              <a:rPr lang="en-US" sz="1600" b="1"/>
              <a:t> </a:t>
            </a:r>
            <a:r>
              <a:rPr lang="en-US" sz="1600" err="1"/>
              <a:t>berikut</a:t>
            </a:r>
            <a:r>
              <a:rPr lang="en-US" sz="1600"/>
              <a:t>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437D25A-2D34-CD17-26E5-C6944A83AEB8}"/>
              </a:ext>
            </a:extLst>
          </p:cNvPr>
          <p:cNvSpPr txBox="1">
            <a:spLocks/>
          </p:cNvSpPr>
          <p:nvPr/>
        </p:nvSpPr>
        <p:spPr>
          <a:xfrm>
            <a:off x="1060703" y="3581400"/>
            <a:ext cx="7699249" cy="939363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b="1" err="1"/>
              <a:t>Hadir</a:t>
            </a:r>
            <a:r>
              <a:rPr lang="en-US" sz="1600"/>
              <a:t> 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(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tatap</a:t>
            </a:r>
            <a:r>
              <a:rPr lang="en-US" sz="1600"/>
              <a:t> </a:t>
            </a:r>
            <a:r>
              <a:rPr lang="en-US" sz="1600" err="1"/>
              <a:t>muka</a:t>
            </a:r>
            <a:r>
              <a:rPr lang="en-US" sz="1600"/>
              <a:t>), </a:t>
            </a:r>
            <a:r>
              <a:rPr lang="en-US" sz="1600" b="1" err="1"/>
              <a:t>terdata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/>
              <a:t>, dan </a:t>
            </a: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b="1" err="1"/>
              <a:t>dari</a:t>
            </a:r>
            <a:r>
              <a:rPr lang="en-US" sz="1600" b="1"/>
              <a:t> </a:t>
            </a:r>
            <a:r>
              <a:rPr lang="en-US" sz="1600" b="1" err="1"/>
              <a:t>awal</a:t>
            </a:r>
            <a:r>
              <a:rPr lang="en-US" sz="1600" b="1"/>
              <a:t> </a:t>
            </a:r>
            <a:r>
              <a:rPr lang="en-US" sz="1600" b="1" err="1"/>
              <a:t>hingga</a:t>
            </a:r>
            <a:r>
              <a:rPr lang="en-US" sz="1600" b="1"/>
              <a:t> </a:t>
            </a:r>
            <a:r>
              <a:rPr lang="en-US" sz="1600" b="1" err="1"/>
              <a:t>akhir</a:t>
            </a:r>
            <a:r>
              <a:rPr lang="en-US" sz="1600" b="1"/>
              <a:t> </a:t>
            </a:r>
            <a:r>
              <a:rPr lang="en-US" sz="1600" b="1" err="1"/>
              <a:t>sesi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, </a:t>
            </a:r>
            <a:r>
              <a:rPr lang="en-US" sz="1600" err="1"/>
              <a:t>serta</a:t>
            </a:r>
            <a:endParaRPr lang="en-US" sz="16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BC73E4-1075-46AC-D874-8DCDAE6A11D9}"/>
              </a:ext>
            </a:extLst>
          </p:cNvPr>
          <p:cNvSpPr txBox="1">
            <a:spLocks/>
          </p:cNvSpPr>
          <p:nvPr/>
        </p:nvSpPr>
        <p:spPr>
          <a:xfrm>
            <a:off x="1060703" y="4728764"/>
            <a:ext cx="7699249" cy="1672035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b="1" err="1"/>
              <a:t>ketentuan</a:t>
            </a:r>
            <a:r>
              <a:rPr lang="en-US" sz="1600" b="1"/>
              <a:t> </a:t>
            </a:r>
            <a:r>
              <a:rPr lang="en-US" sz="1600" b="1" err="1"/>
              <a:t>absensi</a:t>
            </a:r>
            <a:r>
              <a:rPr lang="en-US" sz="1600" b="1"/>
              <a:t>/</a:t>
            </a:r>
            <a:r>
              <a:rPr lang="en-US" sz="1600" b="1" err="1"/>
              <a:t>kehadiran</a:t>
            </a:r>
            <a:r>
              <a:rPr lang="en-US" sz="1600" b="1"/>
              <a:t> </a:t>
            </a:r>
            <a:r>
              <a:rPr lang="en-US" sz="1600" b="1" err="1"/>
              <a:t>dalam</a:t>
            </a:r>
            <a:r>
              <a:rPr lang="en-US" sz="1600" b="1"/>
              <a:t> </a:t>
            </a:r>
            <a:r>
              <a:rPr lang="en-US" sz="1600" b="1" err="1"/>
              <a:t>penyelenggaraan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(</a:t>
            </a:r>
            <a:r>
              <a:rPr lang="en-US" sz="1600">
                <a:hlinkClick r:id="rId2"/>
              </a:rPr>
              <a:t>http://binusmaya.binus.ac.id</a:t>
            </a:r>
            <a:r>
              <a:rPr lang="en-US" sz="1600"/>
              <a:t>) pada menu Academic Services </a:t>
            </a:r>
            <a:r>
              <a:rPr lang="en-US" sz="1600">
                <a:sym typeface="Wingdings" pitchFamily="2" charset="2"/>
              </a:rPr>
              <a:t> Support  Download Center pada </a:t>
            </a:r>
            <a:r>
              <a:rPr lang="en-US" sz="1600" err="1">
                <a:sym typeface="Wingdings" pitchFamily="2" charset="2"/>
              </a:rPr>
              <a:t>kategori</a:t>
            </a:r>
            <a:r>
              <a:rPr lang="en-US" sz="1600">
                <a:sym typeface="Wingdings" pitchFamily="2" charset="2"/>
              </a:rPr>
              <a:t> Student Guide Book.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3117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9777B4-1F7C-70A1-179D-25D41ACF7AA8}"/>
              </a:ext>
            </a:extLst>
          </p:cNvPr>
          <p:cNvSpPr/>
          <p:nvPr/>
        </p:nvSpPr>
        <p:spPr>
          <a:xfrm>
            <a:off x="1295400" y="2286000"/>
            <a:ext cx="7467600" cy="1371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538960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dinyatakan</a:t>
            </a:r>
            <a:r>
              <a:rPr lang="en-US" sz="1600" b="1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memenuhi</a:t>
            </a:r>
            <a:r>
              <a:rPr lang="en-US" sz="1600"/>
              <a:t> </a:t>
            </a:r>
            <a:r>
              <a:rPr lang="en-US" sz="1600" b="1"/>
              <a:t>salah </a:t>
            </a:r>
            <a:r>
              <a:rPr lang="en-US" sz="1600" b="1" err="1"/>
              <a:t>satu</a:t>
            </a:r>
            <a:r>
              <a:rPr lang="en-US" sz="1600" b="1"/>
              <a:t> </a:t>
            </a:r>
            <a:r>
              <a:rPr lang="en-US" sz="1600" b="1" err="1"/>
              <a:t>kriteria</a:t>
            </a:r>
            <a:r>
              <a:rPr lang="en-US" sz="1600" b="1"/>
              <a:t> </a:t>
            </a:r>
            <a:r>
              <a:rPr lang="en-US" sz="1600" err="1"/>
              <a:t>berikut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hadir</a:t>
            </a:r>
            <a:r>
              <a:rPr lang="en-US" sz="1400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melewati</a:t>
            </a:r>
            <a:r>
              <a:rPr lang="en-US" sz="1400" b="1">
                <a:latin typeface="Open Sans"/>
              </a:rPr>
              <a:t> 30 </a:t>
            </a:r>
            <a:r>
              <a:rPr lang="en-US" sz="1400" b="1" err="1">
                <a:latin typeface="Open Sans"/>
              </a:rPr>
              <a:t>menit</a:t>
            </a:r>
            <a:r>
              <a:rPr lang="en-US" sz="1400" b="1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sejak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waktu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dimulai</a:t>
            </a:r>
            <a:r>
              <a:rPr lang="en-US" sz="1400">
                <a:latin typeface="Open Sans"/>
              </a:rPr>
              <a:t>.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tidak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terdata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hadir</a:t>
            </a:r>
            <a:r>
              <a:rPr lang="en-US" sz="1400" b="1">
                <a:latin typeface="Open Sans"/>
              </a:rPr>
              <a:t> pada </a:t>
            </a:r>
            <a:r>
              <a:rPr lang="en-US" sz="1400" b="1" err="1">
                <a:latin typeface="Open Sans"/>
              </a:rPr>
              <a:t>sistem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sebelum</a:t>
            </a:r>
            <a:r>
              <a:rPr lang="en-US" sz="1400" b="1">
                <a:latin typeface="Open Sans"/>
              </a:rPr>
              <a:t> batas </a:t>
            </a:r>
            <a:r>
              <a:rPr lang="en-US" sz="1400" b="1" err="1">
                <a:latin typeface="Open Sans"/>
              </a:rPr>
              <a:t>waktu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keterlambatan</a:t>
            </a:r>
            <a:r>
              <a:rPr lang="en-US" sz="1400">
                <a:latin typeface="Open Sans"/>
              </a:rPr>
              <a:t> yang </a:t>
            </a:r>
            <a:r>
              <a:rPr lang="en-US" sz="1400" err="1">
                <a:latin typeface="Open Sans"/>
              </a:rPr>
              <a:t>ditentukan</a:t>
            </a:r>
            <a:r>
              <a:rPr lang="en-US" sz="1400">
                <a:latin typeface="Open Sans"/>
              </a:rPr>
              <a:t>.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tidak</a:t>
            </a:r>
            <a:r>
              <a:rPr lang="en-US" sz="1400" b="1"/>
              <a:t> </a:t>
            </a:r>
            <a:r>
              <a:rPr lang="en-US" sz="1400" b="1" err="1"/>
              <a:t>memastikan</a:t>
            </a:r>
            <a:r>
              <a:rPr lang="en-US" sz="1400" b="1"/>
              <a:t> </a:t>
            </a:r>
            <a:r>
              <a:rPr lang="en-US" sz="1400" b="1" err="1"/>
              <a:t>kehadirannya</a:t>
            </a:r>
            <a:r>
              <a:rPr lang="en-US" sz="1400" b="1"/>
              <a:t> </a:t>
            </a:r>
            <a:r>
              <a:rPr lang="en-US" sz="1400" b="1" err="1"/>
              <a:t>tercatat</a:t>
            </a:r>
            <a:r>
              <a:rPr lang="en-US" sz="1400"/>
              <a:t> pada </a:t>
            </a:r>
            <a:r>
              <a:rPr lang="en-US" sz="1400" err="1"/>
              <a:t>sistem</a:t>
            </a:r>
            <a:r>
              <a:rPr lang="en-US" sz="1400"/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lalai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dalam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melakukan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penandaan</a:t>
            </a:r>
            <a:r>
              <a:rPr lang="en-US" sz="1400" b="1">
                <a:latin typeface="Open Sans"/>
              </a:rPr>
              <a:t> </a:t>
            </a:r>
            <a:r>
              <a:rPr lang="en-US" sz="1400" b="1" err="1">
                <a:latin typeface="Open Sans"/>
              </a:rPr>
              <a:t>kehadiran</a:t>
            </a:r>
            <a:r>
              <a:rPr lang="en-US" sz="1400" b="1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sesuai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ketentuan</a:t>
            </a:r>
            <a:r>
              <a:rPr lang="en-US" sz="1400">
                <a:latin typeface="Open Sans"/>
              </a:rPr>
              <a:t> </a:t>
            </a:r>
            <a:r>
              <a:rPr lang="en-US" sz="1400" err="1"/>
              <a:t>berlaku</a:t>
            </a:r>
            <a:r>
              <a:rPr lang="en-US" sz="1400"/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  <a:sym typeface="Wingdings" pitchFamily="2" charset="2"/>
              </a:rPr>
              <a:t>Mahasiswa</a:t>
            </a:r>
            <a:r>
              <a:rPr lang="en-US" sz="1400">
                <a:latin typeface="Open Sans"/>
                <a:sym typeface="Wingdings" pitchFamily="2" charset="2"/>
              </a:rPr>
              <a:t> </a:t>
            </a:r>
            <a:r>
              <a:rPr lang="en-US" sz="1400" b="1" err="1">
                <a:latin typeface="Open Sans"/>
                <a:sym typeface="Wingdings" pitchFamily="2" charset="2"/>
              </a:rPr>
              <a:t>tidak</a:t>
            </a:r>
            <a:r>
              <a:rPr lang="en-US" sz="1400" b="1">
                <a:latin typeface="Open Sans"/>
                <a:sym typeface="Wingdings" pitchFamily="2" charset="2"/>
              </a:rPr>
              <a:t> </a:t>
            </a:r>
            <a:r>
              <a:rPr lang="en-US" sz="1400" b="1" err="1">
                <a:latin typeface="Open Sans"/>
                <a:sym typeface="Wingdings" pitchFamily="2" charset="2"/>
              </a:rPr>
              <a:t>hadir</a:t>
            </a:r>
            <a:r>
              <a:rPr lang="en-US" sz="1400">
                <a:latin typeface="Open Sans"/>
                <a:sym typeface="Wingdings" pitchFamily="2" charset="2"/>
              </a:rPr>
              <a:t> di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tempat</a:t>
            </a:r>
            <a:r>
              <a:rPr lang="en-US" sz="1400">
                <a:sym typeface="Wingdings" pitchFamily="2" charset="2"/>
              </a:rPr>
              <a:t> dan/</a:t>
            </a:r>
            <a:r>
              <a:rPr lang="en-US" sz="1400" err="1">
                <a:sym typeface="Wingdings" pitchFamily="2" charset="2"/>
              </a:rPr>
              <a:t>atau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tidak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mengikuti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sesi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praktikum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dari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awal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hingga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akhir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sesi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praktikum</a:t>
            </a:r>
            <a:r>
              <a:rPr lang="en-US" sz="1400">
                <a:sym typeface="Wingdings" pitchFamily="2" charset="2"/>
              </a:rPr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  <a:sym typeface="Wingdings" pitchFamily="2" charset="2"/>
              </a:rPr>
              <a:t>Mahasiswa</a:t>
            </a:r>
            <a:r>
              <a:rPr lang="en-US" sz="1400">
                <a:latin typeface="Open Sans"/>
                <a:sym typeface="Wingdings" pitchFamily="2" charset="2"/>
              </a:rPr>
              <a:t> </a:t>
            </a:r>
            <a:r>
              <a:rPr lang="en-US" sz="1400" b="1" err="1">
                <a:latin typeface="Open Sans"/>
                <a:sym typeface="Wingdings" pitchFamily="2" charset="2"/>
              </a:rPr>
              <a:t>meninggalkan</a:t>
            </a:r>
            <a:r>
              <a:rPr lang="en-US" sz="1400" b="1">
                <a:latin typeface="Open Sans"/>
                <a:sym typeface="Wingdings" pitchFamily="2" charset="2"/>
              </a:rPr>
              <a:t> </a:t>
            </a:r>
            <a:r>
              <a:rPr lang="en-US" sz="1400" b="1">
                <a:sym typeface="Wingdings" pitchFamily="2" charset="2"/>
              </a:rPr>
              <a:t>ruang praktikum</a:t>
            </a:r>
            <a:r>
              <a:rPr lang="en-US" sz="1400" b="1">
                <a:latin typeface="Open Sans"/>
                <a:sym typeface="Wingdings" pitchFamily="2" charset="2"/>
              </a:rPr>
              <a:t> </a:t>
            </a:r>
            <a:r>
              <a:rPr lang="en-US" sz="1400" err="1">
                <a:latin typeface="Open Sans"/>
                <a:sym typeface="Wingdings" pitchFamily="2" charset="2"/>
              </a:rPr>
              <a:t>selama</a:t>
            </a:r>
            <a:r>
              <a:rPr lang="en-US" sz="1400">
                <a:latin typeface="Open Sans"/>
                <a:sym typeface="Wingdings" pitchFamily="2" charset="2"/>
              </a:rPr>
              <a:t> </a:t>
            </a:r>
            <a:r>
              <a:rPr lang="en-US" sz="1400" err="1">
                <a:latin typeface="Open Sans"/>
                <a:sym typeface="Wingdings" pitchFamily="2" charset="2"/>
              </a:rPr>
              <a:t>praktikum</a:t>
            </a:r>
            <a:r>
              <a:rPr lang="en-US" sz="1400">
                <a:latin typeface="Open Sans"/>
                <a:sym typeface="Wingdings" pitchFamily="2" charset="2"/>
              </a:rPr>
              <a:t> </a:t>
            </a:r>
            <a:r>
              <a:rPr lang="en-US" sz="1400" err="1">
                <a:latin typeface="Open Sans"/>
                <a:sym typeface="Wingdings" pitchFamily="2" charset="2"/>
              </a:rPr>
              <a:t>berlangsung</a:t>
            </a:r>
            <a:r>
              <a:rPr lang="en-US" sz="1400">
                <a:latin typeface="Open Sans"/>
                <a:sym typeface="Wingdings" pitchFamily="2" charset="2"/>
              </a:rPr>
              <a:t>.</a:t>
            </a:r>
            <a:endParaRPr lang="en-US" sz="14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EA9EDB-24D8-D249-BEC5-ED468ADBE046}"/>
              </a:ext>
            </a:extLst>
          </p:cNvPr>
          <p:cNvSpPr txBox="1">
            <a:spLocks/>
          </p:cNvSpPr>
          <p:nvPr/>
        </p:nvSpPr>
        <p:spPr>
          <a:xfrm rot="21111523">
            <a:off x="1042707" y="247785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10806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E57E28-8D84-A71D-8709-A3DB40536951}"/>
              </a:ext>
            </a:extLst>
          </p:cNvPr>
          <p:cNvSpPr txBox="1">
            <a:spLocks/>
          </p:cNvSpPr>
          <p:nvPr/>
        </p:nvSpPr>
        <p:spPr>
          <a:xfrm>
            <a:off x="1524000" y="1676400"/>
            <a:ext cx="3810001" cy="2133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 </a:t>
            </a:r>
            <a:r>
              <a:rPr lang="en-US" sz="1600" b="1" err="1"/>
              <a:t>melewati</a:t>
            </a:r>
            <a:r>
              <a:rPr lang="en-US" sz="1600" b="1"/>
              <a:t> 30 </a:t>
            </a:r>
            <a:r>
              <a:rPr lang="en-US" sz="1600" b="1" err="1"/>
              <a:t>menit</a:t>
            </a:r>
            <a:r>
              <a:rPr lang="en-US" sz="1600" b="1"/>
              <a:t> </a:t>
            </a:r>
            <a:r>
              <a:rPr lang="en-US" sz="1600" err="1"/>
              <a:t>sejak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dimulai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err="1"/>
              <a:t>jika</a:t>
            </a:r>
            <a:r>
              <a:rPr lang="en-US" sz="1600"/>
              <a:t> </a:t>
            </a:r>
            <a:r>
              <a:rPr lang="en-US" sz="1600" b="1" err="1"/>
              <a:t>kehadiran</a:t>
            </a:r>
            <a:r>
              <a:rPr lang="en-US" sz="1600" b="1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terdata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batas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keterlambatan</a:t>
            </a:r>
            <a:r>
              <a:rPr lang="en-US" sz="1600"/>
              <a:t> yang </a:t>
            </a:r>
            <a:r>
              <a:rPr lang="en-US" sz="1600" err="1"/>
              <a:t>ditentukan</a:t>
            </a:r>
            <a:r>
              <a:rPr lang="en-US" sz="1600"/>
              <a:t>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8A5C3A-3CAC-51B3-9F96-CA250EEF30FD}"/>
              </a:ext>
            </a:extLst>
          </p:cNvPr>
          <p:cNvSpPr txBox="1">
            <a:spLocks/>
          </p:cNvSpPr>
          <p:nvPr/>
        </p:nvSpPr>
        <p:spPr>
          <a:xfrm>
            <a:off x="5867402" y="2247900"/>
            <a:ext cx="2438399" cy="990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/>
              <a:t>.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EFF77F3-430A-84E0-702D-DDAF33FB1E33}"/>
              </a:ext>
            </a:extLst>
          </p:cNvPr>
          <p:cNvSpPr/>
          <p:nvPr/>
        </p:nvSpPr>
        <p:spPr>
          <a:xfrm>
            <a:off x="5432680" y="2667000"/>
            <a:ext cx="336043" cy="31941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C918A4-8582-1AF6-728F-A1A6A9C104D2}"/>
              </a:ext>
            </a:extLst>
          </p:cNvPr>
          <p:cNvSpPr txBox="1">
            <a:spLocks/>
          </p:cNvSpPr>
          <p:nvPr/>
        </p:nvSpPr>
        <p:spPr>
          <a:xfrm>
            <a:off x="1054099" y="1468397"/>
            <a:ext cx="7696201" cy="1198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4376947-0EFD-95E6-309F-5B84F93F32C2}"/>
              </a:ext>
            </a:extLst>
          </p:cNvPr>
          <p:cNvSpPr txBox="1">
            <a:spLocks/>
          </p:cNvSpPr>
          <p:nvPr/>
        </p:nvSpPr>
        <p:spPr>
          <a:xfrm>
            <a:off x="1058163" y="3941064"/>
            <a:ext cx="7696201" cy="1198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Kehadiran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berpengaruh</a:t>
            </a:r>
            <a:r>
              <a:rPr lang="en-US" sz="1600"/>
              <a:t> </a:t>
            </a:r>
            <a:r>
              <a:rPr lang="en-US" sz="1600" err="1"/>
              <a:t>terhadap</a:t>
            </a:r>
            <a:r>
              <a:rPr lang="en-US" sz="1600"/>
              <a:t> </a:t>
            </a:r>
            <a:r>
              <a:rPr lang="en-US" sz="1600" b="1" err="1"/>
              <a:t>kelayakan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</a:t>
            </a:r>
            <a:r>
              <a:rPr lang="en-US" sz="1600" b="1" err="1"/>
              <a:t>ujian</a:t>
            </a:r>
            <a:r>
              <a:rPr lang="en-US" sz="1600"/>
              <a:t>: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b="1" err="1"/>
              <a:t>melewati</a:t>
            </a:r>
            <a:r>
              <a:rPr lang="en-US" sz="1600" b="1"/>
              <a:t> </a:t>
            </a:r>
            <a:r>
              <a:rPr lang="en-US" sz="1600" b="1" err="1"/>
              <a:t>batas</a:t>
            </a:r>
            <a:r>
              <a:rPr lang="en-US" sz="1600" b="1"/>
              <a:t> </a:t>
            </a:r>
            <a:r>
              <a:rPr lang="en-US" sz="1600" b="1" err="1"/>
              <a:t>ketidakhadiran</a:t>
            </a:r>
            <a:r>
              <a:rPr lang="en-US" sz="1600" b="1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</a:t>
            </a:r>
            <a:r>
              <a:rPr lang="en-US" sz="1600" err="1"/>
              <a:t>teori</a:t>
            </a:r>
            <a:r>
              <a:rPr lang="en-US" sz="1600"/>
              <a:t> </a:t>
            </a:r>
            <a:r>
              <a:rPr lang="en-US" sz="1600" err="1"/>
              <a:t>maupun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</a:t>
            </a:r>
            <a:r>
              <a:rPr lang="en-US" sz="1600" b="1" err="1"/>
              <a:t>ujian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teori</a:t>
            </a:r>
            <a:r>
              <a:rPr lang="en-US" sz="1600"/>
              <a:t> </a:t>
            </a:r>
            <a:r>
              <a:rPr lang="en-US" sz="1600" err="1"/>
              <a:t>maupun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95874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9957F7-3246-A2F4-12FD-D07C92DE1985}"/>
              </a:ext>
            </a:extLst>
          </p:cNvPr>
          <p:cNvSpPr/>
          <p:nvPr/>
        </p:nvSpPr>
        <p:spPr>
          <a:xfrm>
            <a:off x="954932" y="3714345"/>
            <a:ext cx="7905344" cy="15904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bertanggung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b="1" err="1"/>
              <a:t>memastikan</a:t>
            </a:r>
            <a:r>
              <a:rPr lang="en-US" sz="1600" b="1"/>
              <a:t> </a:t>
            </a:r>
            <a:r>
              <a:rPr lang="en-US" sz="1600" b="1" err="1"/>
              <a:t>bahwa</a:t>
            </a:r>
            <a:r>
              <a:rPr lang="en-US" sz="1600" b="1"/>
              <a:t> </a:t>
            </a:r>
            <a:r>
              <a:rPr lang="en-US" sz="1600" b="1" err="1"/>
              <a:t>kehadirannya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tercatat</a:t>
            </a:r>
            <a:r>
              <a:rPr lang="en-US" sz="1600" b="1"/>
              <a:t> pada </a:t>
            </a:r>
            <a:r>
              <a:rPr lang="en-US" sz="1600" b="1" err="1"/>
              <a:t>sistem</a:t>
            </a:r>
            <a:endParaRPr lang="en-US" sz="1600" err="1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berwenang</a:t>
            </a:r>
            <a:r>
              <a:rPr lang="en-US" sz="1600" b="1"/>
              <a:t> </a:t>
            </a:r>
            <a:r>
              <a:rPr lang="en-US" sz="1600" err="1"/>
              <a:t>memberikan</a:t>
            </a:r>
            <a:r>
              <a:rPr lang="en-US" sz="1600"/>
              <a:t> </a:t>
            </a:r>
            <a:r>
              <a:rPr lang="en-US" sz="1600" err="1"/>
              <a:t>izin</a:t>
            </a:r>
            <a:r>
              <a:rPr lang="en-US" sz="1600"/>
              <a:t> </a:t>
            </a:r>
            <a:r>
              <a:rPr lang="en-US" sz="1600" err="1"/>
              <a:t>ketidakhadiran</a:t>
            </a:r>
            <a:r>
              <a:rPr lang="en-US" sz="1600"/>
              <a:t> </a:t>
            </a:r>
            <a:r>
              <a:rPr lang="en-US" sz="1600" err="1"/>
              <a:t>kepada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Menginformasikan</a:t>
            </a:r>
            <a:r>
              <a:rPr lang="en-US" sz="1400"/>
              <a:t> </a:t>
            </a:r>
            <a:r>
              <a:rPr lang="en-US" sz="1400" err="1"/>
              <a:t>ketidakhadiran</a:t>
            </a:r>
            <a:r>
              <a:rPr lang="en-US" sz="1400"/>
              <a:t> </a:t>
            </a:r>
            <a:r>
              <a:rPr lang="en-US" sz="1400" err="1"/>
              <a:t>ke</a:t>
            </a:r>
            <a:r>
              <a:rPr lang="en-US" sz="1400"/>
              <a:t> </a:t>
            </a:r>
            <a:r>
              <a:rPr lang="en-US" sz="1400" err="1"/>
              <a:t>pengajar</a:t>
            </a:r>
            <a:r>
              <a:rPr lang="en-US" sz="1400"/>
              <a:t> </a:t>
            </a:r>
            <a:r>
              <a:rPr lang="en-US" sz="1400" b="1" err="1"/>
              <a:t>tidak</a:t>
            </a:r>
            <a:r>
              <a:rPr lang="en-US" sz="1400" b="1"/>
              <a:t> </a:t>
            </a:r>
            <a:r>
              <a:rPr lang="en-US" sz="1400" b="1" err="1"/>
              <a:t>dianggap</a:t>
            </a:r>
            <a:r>
              <a:rPr lang="en-US" sz="1400" b="1"/>
              <a:t> </a:t>
            </a:r>
            <a:r>
              <a:rPr lang="en-US" sz="1400" err="1"/>
              <a:t>sebagai</a:t>
            </a:r>
            <a:r>
              <a:rPr lang="en-US" sz="1400"/>
              <a:t> </a:t>
            </a:r>
            <a:r>
              <a:rPr lang="en-US" sz="1400" err="1"/>
              <a:t>bentuk</a:t>
            </a:r>
            <a:r>
              <a:rPr lang="en-US" sz="1400"/>
              <a:t> </a:t>
            </a:r>
            <a:r>
              <a:rPr lang="en-US" sz="1400" err="1"/>
              <a:t>izin</a:t>
            </a:r>
            <a:r>
              <a:rPr lang="en-US" sz="1400"/>
              <a:t> </a:t>
            </a:r>
            <a:r>
              <a:rPr lang="en-US" sz="1400" err="1"/>
              <a:t>ketidakhadiran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.</a:t>
            </a:r>
            <a:endParaRPr lang="en-US" sz="14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Jika </a:t>
            </a:r>
            <a:r>
              <a:rPr lang="en-US" sz="1600" err="1">
                <a:latin typeface="Open Sans"/>
              </a:rPr>
              <a:t>ingin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izin</a:t>
            </a:r>
            <a:r>
              <a:rPr lang="en-US" sz="1600">
                <a:latin typeface="Open Sans"/>
              </a:rPr>
              <a:t>, </a:t>
            </a:r>
            <a:r>
              <a:rPr lang="en-US" sz="1600" err="1">
                <a:latin typeface="Open Sans"/>
              </a:rPr>
              <a:t>mahasiswa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menggunakan</a:t>
            </a:r>
            <a:r>
              <a:rPr lang="en-US" sz="1600">
                <a:latin typeface="Open Sans"/>
              </a:rPr>
              <a:t> </a:t>
            </a:r>
            <a:r>
              <a:rPr lang="en-US" sz="1600" b="1">
                <a:latin typeface="Open Sans"/>
              </a:rPr>
              <a:t>batas </a:t>
            </a:r>
            <a:r>
              <a:rPr lang="en-US" sz="1600" b="1" err="1">
                <a:latin typeface="Open Sans"/>
              </a:rPr>
              <a:t>ketidakhadiran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tersedia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untuk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mata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terkait</a:t>
            </a:r>
            <a:r>
              <a:rPr lang="en-US" sz="1600">
                <a:latin typeface="Open Sans"/>
              </a:rPr>
              <a:t> (</a:t>
            </a:r>
            <a:r>
              <a:rPr lang="en-US" sz="1600" err="1">
                <a:latin typeface="Open Sans"/>
              </a:rPr>
              <a:t>termasuk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ketidakhadiran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karena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sakit</a:t>
            </a:r>
            <a:r>
              <a:rPr lang="en-US" sz="1600">
                <a:latin typeface="Open Sans"/>
              </a:rPr>
              <a:t>, </a:t>
            </a:r>
            <a:r>
              <a:rPr lang="en-US" sz="1600" err="1">
                <a:latin typeface="Open Sans"/>
              </a:rPr>
              <a:t>alpa</a:t>
            </a:r>
            <a:r>
              <a:rPr lang="en-US" sz="1600">
                <a:latin typeface="Open Sans"/>
              </a:rPr>
              <a:t>, dan </a:t>
            </a:r>
            <a:r>
              <a:rPr lang="en-US" sz="1600" err="1">
                <a:latin typeface="Open Sans"/>
              </a:rPr>
              <a:t>hal-hal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lainnya</a:t>
            </a:r>
            <a:r>
              <a:rPr lang="en-US" sz="1600"/>
              <a:t>)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LSC.</a:t>
            </a:r>
            <a:endParaRPr lang="en-US" sz="1600">
              <a:latin typeface="Open Sans"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Data </a:t>
            </a:r>
            <a:r>
              <a:rPr lang="en-US" sz="1600" err="1"/>
              <a:t>kehadiran</a:t>
            </a:r>
            <a:r>
              <a:rPr lang="en-US" sz="1600"/>
              <a:t> dan </a:t>
            </a:r>
            <a:r>
              <a:rPr lang="en-US" sz="1600" b="1"/>
              <a:t>batas </a:t>
            </a:r>
            <a:r>
              <a:rPr lang="en-US" sz="1600" b="1" err="1"/>
              <a:t>kehadiran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(menu Learning &gt; Attendance Information)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/>
              <a:t>Binus Mobile (menu Attendance)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1FEB06-C0D8-E2C8-DDE5-6B196DE4097A}"/>
              </a:ext>
            </a:extLst>
          </p:cNvPr>
          <p:cNvSpPr txBox="1">
            <a:spLocks/>
          </p:cNvSpPr>
          <p:nvPr/>
        </p:nvSpPr>
        <p:spPr>
          <a:xfrm rot="21111523">
            <a:off x="1011643" y="3325029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34566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26540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classroom attendance</a:t>
            </a:r>
            <a:r>
              <a:rPr lang="en-US" sz="1600"/>
              <a:t>, </a:t>
            </a:r>
            <a:r>
              <a:rPr lang="en-US" sz="1600" err="1"/>
              <a:t>tetapi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pengajaran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berhak</a:t>
            </a:r>
            <a:r>
              <a:rPr lang="en-US" sz="1600"/>
              <a:t> </a:t>
            </a:r>
            <a:r>
              <a:rPr lang="en-US" sz="1600" b="1" err="1"/>
              <a:t>menghilangkan</a:t>
            </a:r>
            <a:r>
              <a:rPr lang="en-US" sz="1600" b="1"/>
              <a:t> </a:t>
            </a:r>
            <a:r>
              <a:rPr lang="en-US" sz="1600" b="1" i="1"/>
              <a:t>checklist</a:t>
            </a:r>
            <a:r>
              <a:rPr lang="en-US" sz="1600" b="1"/>
              <a:t> </a:t>
            </a:r>
            <a:r>
              <a:rPr lang="en-US" sz="1600" b="1" err="1"/>
              <a:t>kehadiran</a:t>
            </a:r>
            <a:r>
              <a:rPr lang="en-US" sz="1600"/>
              <a:t> </a:t>
            </a:r>
            <a:r>
              <a:rPr lang="en-US" sz="1600" i="1"/>
              <a:t>classroom attendance </a:t>
            </a:r>
            <a:r>
              <a:rPr lang="en-US" sz="1600" err="1"/>
              <a:t>mahasiswa</a:t>
            </a:r>
            <a:r>
              <a:rPr lang="en-US" sz="1600"/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Kehadiran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995378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Ketentuan</a:t>
            </a:r>
            <a:r>
              <a:rPr lang="en-US"/>
              <a:t> </a:t>
            </a:r>
            <a:r>
              <a:rPr lang="en-US" err="1"/>
              <a:t>Ruangan</a:t>
            </a:r>
            <a:r>
              <a:rPr lang="en-US"/>
              <a:t> </a:t>
            </a:r>
            <a:r>
              <a:rPr lang="en-US" err="1"/>
              <a:t>Praktikum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742" y="4866782"/>
            <a:ext cx="6879773" cy="12577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/>
              <a:t> </a:t>
            </a:r>
            <a:r>
              <a:rPr lang="en-US" sz="1600" err="1"/>
              <a:t>memasuki</a:t>
            </a:r>
            <a:r>
              <a:rPr lang="en-US" sz="1600"/>
              <a:t>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b="1" err="1"/>
              <a:t>bukan</a:t>
            </a:r>
            <a:r>
              <a:rPr lang="en-US" sz="1600" b="1"/>
              <a:t> </a:t>
            </a:r>
            <a:r>
              <a:rPr lang="en-US" sz="1600" b="1" err="1"/>
              <a:t>jadwalnya</a:t>
            </a:r>
            <a:r>
              <a:rPr lang="en-US" sz="1600"/>
              <a:t>, </a:t>
            </a:r>
            <a:r>
              <a:rPr lang="en-US" sz="1600" err="1"/>
              <a:t>kecuali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diizinkan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meminjam</a:t>
            </a:r>
            <a:r>
              <a:rPr lang="en-US" sz="1600"/>
              <a:t>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dan </a:t>
            </a:r>
            <a:r>
              <a:rPr lang="en-US" sz="1600" err="1"/>
              <a:t>permohonan</a:t>
            </a:r>
            <a:r>
              <a:rPr lang="en-US" sz="1600"/>
              <a:t> </a:t>
            </a: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disetujui</a:t>
            </a:r>
            <a:r>
              <a:rPr lang="en-US" sz="1600"/>
              <a:t>.</a:t>
            </a:r>
            <a:r>
              <a:rPr lang="en-US" sz="1600">
                <a:ea typeface="Open Sans"/>
                <a:cs typeface="Open Sans"/>
              </a:rPr>
              <a:t> </a:t>
            </a:r>
            <a:endParaRPr lang="en-US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Ruangan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</a:p>
        </p:txBody>
      </p:sp>
      <p:pic>
        <p:nvPicPr>
          <p:cNvPr id="5" name="Picture 4" descr="A phone next to a door&#10;&#10;Description automatically generated">
            <a:extLst>
              <a:ext uri="{FF2B5EF4-FFF2-40B4-BE49-F238E27FC236}">
                <a16:creationId xmlns:a16="http://schemas.microsoft.com/office/drawing/2014/main" id="{0AFD3448-50F8-741E-792A-18BE090DE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38" y="1519310"/>
            <a:ext cx="6337527" cy="357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6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diwajibkan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menjaga</a:t>
            </a:r>
            <a:r>
              <a:rPr lang="en-US" sz="1600" b="1"/>
              <a:t> </a:t>
            </a:r>
            <a:r>
              <a:rPr lang="en-US" sz="1600" b="1" err="1"/>
              <a:t>perlengkapan</a:t>
            </a:r>
            <a:r>
              <a:rPr lang="en-US" sz="1600" b="1"/>
              <a:t> dan </a:t>
            </a:r>
            <a:r>
              <a:rPr lang="en-US" sz="1600" b="1" err="1"/>
              <a:t>peralatan</a:t>
            </a:r>
            <a:r>
              <a:rPr lang="en-US" sz="1600" b="1"/>
              <a:t> </a:t>
            </a:r>
            <a:r>
              <a:rPr lang="en-US" sz="1600" b="1" err="1"/>
              <a:t>ruang</a:t>
            </a:r>
            <a:r>
              <a:rPr lang="en-US" sz="1600" b="1"/>
              <a:t> </a:t>
            </a:r>
            <a:r>
              <a:rPr lang="en-US" sz="1600" b="1" err="1"/>
              <a:t>laboratorium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 Jika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akibat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kelalaian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bersangkutan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mengganti</a:t>
            </a:r>
            <a:r>
              <a:rPr lang="en-US" sz="1600"/>
              <a:t> </a:t>
            </a:r>
            <a:r>
              <a:rPr lang="en-US" sz="1600" err="1"/>
              <a:t>peralatan</a:t>
            </a:r>
            <a:r>
              <a:rPr lang="en-US" sz="1600"/>
              <a:t>, </a:t>
            </a:r>
            <a:r>
              <a:rPr lang="en-US" sz="1600" err="1"/>
              <a:t>fasilitas</a:t>
            </a:r>
            <a:r>
              <a:rPr lang="en-US" sz="1600"/>
              <a:t> dan </a:t>
            </a:r>
            <a:r>
              <a:rPr lang="en-US" sz="1600" err="1"/>
              <a:t>bahan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melepas</a:t>
            </a:r>
            <a:r>
              <a:rPr lang="en-US" sz="1600" b="1"/>
              <a:t> </a:t>
            </a:r>
            <a:r>
              <a:rPr lang="en-US" sz="1600" b="1" err="1"/>
              <a:t>kabel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jaringan</a:t>
            </a:r>
            <a:r>
              <a:rPr lang="en-US" sz="1600"/>
              <a:t>, </a:t>
            </a:r>
            <a:r>
              <a:rPr lang="en-US" sz="1600" err="1"/>
              <a:t>listrik</a:t>
            </a:r>
            <a:r>
              <a:rPr lang="en-US" sz="1600"/>
              <a:t>, </a:t>
            </a:r>
            <a:r>
              <a:rPr lang="en-US" sz="1600" err="1"/>
              <a:t>dsb</a:t>
            </a:r>
            <a:r>
              <a:rPr lang="en-US" sz="1600"/>
              <a:t>.)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komputer</a:t>
            </a:r>
            <a:r>
              <a:rPr lang="en-US" sz="1600"/>
              <a:t>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untuk</a:t>
            </a:r>
            <a:r>
              <a:rPr lang="en-US" sz="1600" b="1"/>
              <a:t> </a:t>
            </a:r>
            <a:r>
              <a:rPr lang="en-US" sz="1600" b="1" err="1"/>
              <a:t>makan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minuman</a:t>
            </a:r>
            <a:r>
              <a:rPr lang="en-US" sz="1600" b="1"/>
              <a:t> di </a:t>
            </a:r>
            <a:r>
              <a:rPr lang="en-US" sz="1600" b="1" err="1"/>
              <a:t>atas</a:t>
            </a:r>
            <a:r>
              <a:rPr lang="en-US" sz="1600" b="1"/>
              <a:t> </a:t>
            </a:r>
            <a:r>
              <a:rPr lang="en-US" sz="1600" b="1" err="1"/>
              <a:t>meja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Ruangan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+mn-lt"/>
                <a:cs typeface="+mn-lt"/>
              </a:rPr>
              <a:t>(Cont.)</a:t>
            </a:r>
            <a:endParaRPr lang="en-US" sz="3000" b="1">
              <a:solidFill>
                <a:srgbClr val="0079B8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2" name="Picture 1" descr="A water bottle on a table&#10;&#10;Description automatically generated">
            <a:extLst>
              <a:ext uri="{FF2B5EF4-FFF2-40B4-BE49-F238E27FC236}">
                <a16:creationId xmlns:a16="http://schemas.microsoft.com/office/drawing/2014/main" id="{685D849C-96B6-928D-30F8-3C3E993F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116" y="4662561"/>
            <a:ext cx="5694589" cy="3207056"/>
          </a:xfrm>
          <a:prstGeom prst="rect">
            <a:avLst/>
          </a:prstGeom>
        </p:spPr>
      </p:pic>
      <p:pic>
        <p:nvPicPr>
          <p:cNvPr id="4" name="Picture 3" descr="A no food sign&#10;&#10;Description automatically generated">
            <a:extLst>
              <a:ext uri="{FF2B5EF4-FFF2-40B4-BE49-F238E27FC236}">
                <a16:creationId xmlns:a16="http://schemas.microsoft.com/office/drawing/2014/main" id="{F7F6AD5A-281B-100D-EFA5-07DC559F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232" y="4662560"/>
            <a:ext cx="4531178" cy="2533503"/>
          </a:xfrm>
          <a:prstGeom prst="rect">
            <a:avLst/>
          </a:prstGeom>
        </p:spPr>
      </p:pic>
      <p:pic>
        <p:nvPicPr>
          <p:cNvPr id="5" name="Picture 4" descr="A logo of a power outlet&#10;&#10;Description automatically generated">
            <a:extLst>
              <a:ext uri="{FF2B5EF4-FFF2-40B4-BE49-F238E27FC236}">
                <a16:creationId xmlns:a16="http://schemas.microsoft.com/office/drawing/2014/main" id="{BF0DFC41-C332-0A5A-067B-893F36869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3348" y="4529892"/>
            <a:ext cx="4959803" cy="278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680541-A2C0-523E-303E-64EA38DB3697}"/>
              </a:ext>
            </a:extLst>
          </p:cNvPr>
          <p:cNvSpPr>
            <a:spLocks noGrp="1"/>
          </p:cNvSpPr>
          <p:nvPr/>
        </p:nvSpPr>
        <p:spPr>
          <a:xfrm>
            <a:off x="1054099" y="1468399"/>
            <a:ext cx="7696201" cy="5084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Software Laboratory Center </a:t>
            </a:r>
            <a:r>
              <a:rPr lang="en-US" sz="1600" err="1"/>
              <a:t>menyediakan</a:t>
            </a:r>
            <a:r>
              <a:rPr lang="en-US" sz="1600"/>
              <a:t> </a:t>
            </a: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pemakaian</a:t>
            </a:r>
            <a:r>
              <a:rPr lang="en-US" sz="1600"/>
              <a:t> PC yang </a:t>
            </a:r>
            <a:r>
              <a:rPr lang="en-US" sz="1600" b="1" err="1"/>
              <a:t>berhubungan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remote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>
                <a:hlinkClick r:id="rId2"/>
              </a:rPr>
              <a:t>http://labfacility.apps.binus.ac.id</a:t>
            </a:r>
            <a:r>
              <a:rPr lang="en-US" sz="1600"/>
              <a:t> (login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kredensial</a:t>
            </a:r>
            <a:r>
              <a:rPr lang="en-US" sz="1600"/>
              <a:t> email binus.ac.id dan password </a:t>
            </a:r>
            <a:r>
              <a:rPr lang="en-US" sz="1600" err="1"/>
              <a:t>Binusmaya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b="1"/>
              <a:t>paling </a:t>
            </a:r>
            <a:r>
              <a:rPr lang="en-US" sz="1600" b="1" err="1"/>
              <a:t>lambat</a:t>
            </a:r>
            <a:r>
              <a:rPr lang="en-US" sz="1600" b="1"/>
              <a:t> H-2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. Tidak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yang </a:t>
            </a:r>
            <a:r>
              <a:rPr lang="en-US" sz="1600" err="1"/>
              <a:t>peminjamannya</a:t>
            </a:r>
            <a:r>
              <a:rPr lang="en-US" sz="1600"/>
              <a:t> </a:t>
            </a:r>
            <a:r>
              <a:rPr lang="en-US" sz="1600" err="1"/>
              <a:t>belum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disetujui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Software Laboratory Center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permintaan</a:t>
            </a:r>
            <a:r>
              <a:rPr lang="en-US" sz="1600"/>
              <a:t> </a:t>
            </a:r>
            <a:r>
              <a:rPr lang="en-US" sz="1600" err="1"/>
              <a:t>peminjaman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pertimbangan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ketersediaan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alasan</a:t>
            </a:r>
            <a:r>
              <a:rPr lang="en-US" sz="1600"/>
              <a:t> </a:t>
            </a:r>
            <a:r>
              <a:rPr lang="en-US" sz="1600" err="1"/>
              <a:t>peminjaman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7BBCFFC-5854-DD3C-D962-D39FCAFB46DA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Ruangan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2781189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Sistem</a:t>
            </a:r>
            <a:r>
              <a:rPr lang="en-US"/>
              <a:t> </a:t>
            </a:r>
            <a:r>
              <a:rPr lang="en-US" err="1"/>
              <a:t>Perkuliahan</a:t>
            </a:r>
            <a:r>
              <a:rPr lang="en-US"/>
              <a:t> Mata </a:t>
            </a:r>
            <a:r>
              <a:rPr lang="en-US" err="1"/>
              <a:t>Kuliah</a:t>
            </a:r>
            <a:r>
              <a:rPr lang="en-US"/>
              <a:t> </a:t>
            </a:r>
            <a:r>
              <a:rPr lang="en-US" err="1"/>
              <a:t>Praktikum</a:t>
            </a:r>
            <a:r>
              <a:rPr lang="en-US"/>
              <a:t> &amp; </a:t>
            </a:r>
            <a:r>
              <a:rPr lang="en-US" err="1"/>
              <a:t>Materi</a:t>
            </a:r>
            <a:r>
              <a:rPr lang="en-US"/>
              <a:t> </a:t>
            </a:r>
            <a:r>
              <a:rPr lang="en-US" err="1"/>
              <a:t>Praktikum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16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500" err="1">
                <a:latin typeface="Open Sans"/>
              </a:rPr>
              <a:t>Binusmaya</a:t>
            </a:r>
            <a:r>
              <a:rPr lang="en-US" sz="1500">
                <a:latin typeface="Open Sans"/>
              </a:rPr>
              <a:t> Practicum </a:t>
            </a:r>
            <a:r>
              <a:rPr lang="en-US" sz="1500" err="1">
                <a:latin typeface="Open Sans"/>
              </a:rPr>
              <a:t>digunakan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untuk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mengakses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materi</a:t>
            </a:r>
            <a:r>
              <a:rPr lang="en-US" sz="1500">
                <a:latin typeface="Open Sans"/>
              </a:rPr>
              <a:t>, </a:t>
            </a:r>
            <a:r>
              <a:rPr lang="en-US" sz="1500" err="1">
                <a:latin typeface="Open Sans"/>
              </a:rPr>
              <a:t>komponen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penilaian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kelas</a:t>
            </a:r>
            <a:r>
              <a:rPr lang="en-US" sz="1500">
                <a:latin typeface="Open Sans"/>
              </a:rPr>
              <a:t>, </a:t>
            </a:r>
            <a:r>
              <a:rPr lang="en-US" sz="1500" err="1">
                <a:latin typeface="Open Sans"/>
              </a:rPr>
              <a:t>soal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proyek</a:t>
            </a:r>
            <a:r>
              <a:rPr lang="en-US" sz="1500">
                <a:latin typeface="Open Sans"/>
              </a:rPr>
              <a:t>, </a:t>
            </a:r>
            <a:r>
              <a:rPr lang="en-US" sz="1500" err="1">
                <a:latin typeface="Open Sans"/>
              </a:rPr>
              <a:t>soal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mandiri</a:t>
            </a:r>
            <a:r>
              <a:rPr lang="en-US" sz="1500">
                <a:latin typeface="Open Sans"/>
              </a:rPr>
              <a:t>, </a:t>
            </a:r>
            <a:r>
              <a:rPr lang="en-US" sz="1500" b="1" err="1">
                <a:latin typeface="Open Sans"/>
              </a:rPr>
              <a:t>pembentukan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kelompok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proyek</a:t>
            </a:r>
            <a:r>
              <a:rPr lang="en-US" sz="1500">
                <a:latin typeface="Open Sans"/>
              </a:rPr>
              <a:t>, </a:t>
            </a:r>
            <a:r>
              <a:rPr lang="en-US" sz="1500" b="1" err="1">
                <a:latin typeface="Open Sans"/>
              </a:rPr>
              <a:t>pengumpulan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jawaban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proyek</a:t>
            </a:r>
            <a:r>
              <a:rPr lang="en-US" sz="1500">
                <a:latin typeface="Open Sans"/>
              </a:rPr>
              <a:t>, </a:t>
            </a:r>
            <a:r>
              <a:rPr lang="en-US" sz="1500" b="1" err="1">
                <a:latin typeface="Open Sans"/>
              </a:rPr>
              <a:t>pengumpulan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kuis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bawa</a:t>
            </a:r>
            <a:r>
              <a:rPr lang="en-US" sz="1500" b="1">
                <a:latin typeface="Open Sans"/>
              </a:rPr>
              <a:t> </a:t>
            </a:r>
            <a:r>
              <a:rPr lang="en-US" sz="1500" b="1" err="1">
                <a:latin typeface="Open Sans"/>
              </a:rPr>
              <a:t>pulang</a:t>
            </a:r>
            <a:r>
              <a:rPr lang="en-US" sz="1500" b="1">
                <a:latin typeface="Open Sans"/>
              </a:rPr>
              <a:t>, Video-Based Learning (VBL)</a:t>
            </a:r>
            <a:r>
              <a:rPr lang="en-US" sz="1500">
                <a:latin typeface="Open Sans"/>
              </a:rPr>
              <a:t>, </a:t>
            </a:r>
            <a:r>
              <a:rPr lang="en-US" sz="1500" err="1">
                <a:latin typeface="Open Sans"/>
              </a:rPr>
              <a:t>absensi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kelas</a:t>
            </a:r>
            <a:r>
              <a:rPr lang="en-US" sz="1500">
                <a:latin typeface="Open Sans"/>
              </a:rPr>
              <a:t> </a:t>
            </a:r>
            <a:r>
              <a:rPr lang="en-US" sz="1500" err="1">
                <a:latin typeface="Open Sans"/>
              </a:rPr>
              <a:t>tambahan</a:t>
            </a:r>
            <a:r>
              <a:rPr lang="en-US" sz="1500">
                <a:latin typeface="Open Sans"/>
              </a:rPr>
              <a:t>, </a:t>
            </a:r>
            <a:r>
              <a:rPr lang="en-US" sz="1500" err="1">
                <a:latin typeface="Open Sans"/>
              </a:rPr>
              <a:t>dsb</a:t>
            </a:r>
            <a:r>
              <a:rPr lang="en-US" sz="1500">
                <a:latin typeface="Open Sans"/>
              </a:rPr>
              <a:t>.</a:t>
            </a:r>
            <a:endParaRPr lang="en-US" sz="1500">
              <a:latin typeface="Open Sans"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500" err="1"/>
              <a:t>Binusmaya</a:t>
            </a:r>
            <a:r>
              <a:rPr lang="en-US" sz="1500"/>
              <a:t> Practicum </a:t>
            </a:r>
            <a:r>
              <a:rPr lang="en-US" sz="1500" err="1"/>
              <a:t>dapat</a:t>
            </a:r>
            <a:r>
              <a:rPr lang="en-US" sz="1500"/>
              <a:t> </a:t>
            </a:r>
            <a:r>
              <a:rPr lang="en-US" sz="1500" err="1"/>
              <a:t>diakses</a:t>
            </a:r>
            <a:r>
              <a:rPr lang="en-US" sz="1500"/>
              <a:t> </a:t>
            </a:r>
            <a:r>
              <a:rPr lang="en-US" sz="1500" err="1"/>
              <a:t>melalui</a:t>
            </a:r>
            <a:r>
              <a:rPr lang="en-US" sz="1500"/>
              <a:t>:</a:t>
            </a:r>
            <a:endParaRPr lang="en-US" sz="15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Acadservices</a:t>
            </a:r>
            <a:r>
              <a:rPr lang="en-US" sz="1400">
                <a:latin typeface="Open Sans"/>
              </a:rPr>
              <a:t> </a:t>
            </a:r>
            <a:r>
              <a:rPr lang="en-US" sz="1400">
                <a:latin typeface="Open Sans"/>
                <a:sym typeface="Wingdings" pitchFamily="2" charset="2"/>
              </a:rPr>
              <a:t> Courses  Mata </a:t>
            </a:r>
            <a:r>
              <a:rPr lang="en-US" sz="1400" err="1">
                <a:latin typeface="Open Sans"/>
                <a:sym typeface="Wingdings" pitchFamily="2" charset="2"/>
              </a:rPr>
              <a:t>Kuliah</a:t>
            </a:r>
            <a:r>
              <a:rPr lang="en-US" sz="1400">
                <a:latin typeface="Open Sans"/>
                <a:sym typeface="Wingdings" pitchFamily="2" charset="2"/>
              </a:rPr>
              <a:t> </a:t>
            </a:r>
            <a:r>
              <a:rPr lang="en-US" sz="1400" err="1">
                <a:latin typeface="Open Sans"/>
                <a:sym typeface="Wingdings" pitchFamily="2" charset="2"/>
              </a:rPr>
              <a:t>Berpraktikum</a:t>
            </a:r>
            <a:r>
              <a:rPr lang="en-US" sz="1400">
                <a:latin typeface="Open Sans"/>
                <a:sym typeface="Wingdings" pitchFamily="2" charset="2"/>
              </a:rPr>
              <a:t>  </a:t>
            </a:r>
            <a:r>
              <a:rPr lang="en-US" sz="1400" err="1">
                <a:latin typeface="Open Sans"/>
                <a:sym typeface="Wingdings" pitchFamily="2" charset="2"/>
              </a:rPr>
              <a:t>klik</a:t>
            </a:r>
            <a:r>
              <a:rPr lang="en-US" sz="1400">
                <a:latin typeface="Open Sans"/>
                <a:sym typeface="Wingdings" pitchFamily="2" charset="2"/>
              </a:rPr>
              <a:t> menu Practicum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>
                <a:sym typeface="Wingdings" pitchFamily="2" charset="2"/>
              </a:rPr>
              <a:t>Atau </a:t>
            </a:r>
            <a:r>
              <a:rPr lang="en-US" sz="1400" err="1">
                <a:sym typeface="Wingdings" pitchFamily="2" charset="2"/>
              </a:rPr>
              <a:t>langsung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mengakses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ym typeface="Wingdings" pitchFamily="2" charset="2"/>
                <a:hlinkClick r:id="rId2"/>
              </a:rPr>
              <a:t>https://bluejack.binus.ac.id/prk/</a:t>
            </a:r>
            <a:endParaRPr lang="en-US" sz="140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Practicum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1EABFE1-7017-0EE8-8C1C-3B8C29E923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016" y="4130591"/>
            <a:ext cx="4529433" cy="2537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6730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Dbprk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untuk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pelaksanaan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mata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berkaitan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dengan</a:t>
            </a:r>
            <a:r>
              <a:rPr lang="en-US" sz="1600">
                <a:latin typeface="Open Sans"/>
              </a:rPr>
              <a:t> </a:t>
            </a:r>
            <a:r>
              <a:rPr lang="en-US" sz="1600" b="1">
                <a:latin typeface="Open Sans"/>
              </a:rPr>
              <a:t>database</a:t>
            </a:r>
            <a:r>
              <a:rPr lang="en-US" sz="1600">
                <a:latin typeface="Open Sans"/>
              </a:rPr>
              <a:t>, </a:t>
            </a:r>
            <a:r>
              <a:rPr lang="en-US" sz="1600" err="1">
                <a:latin typeface="Open Sans"/>
              </a:rPr>
              <a:t>seperti</a:t>
            </a:r>
            <a:r>
              <a:rPr lang="en-US" sz="1600">
                <a:latin typeface="Open Sans"/>
              </a:rPr>
              <a:t> Database Technology, Introduction to Database, dan </a:t>
            </a:r>
            <a:r>
              <a:rPr lang="en-US" sz="1600" err="1">
                <a:latin typeface="Open Sans"/>
              </a:rPr>
              <a:t>sebagainya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pelaksanaan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b="1" err="1"/>
              <a:t>ujian</a:t>
            </a:r>
            <a:r>
              <a:rPr lang="en-US" sz="1600" b="1"/>
              <a:t> </a:t>
            </a:r>
            <a:r>
              <a:rPr lang="en-US" sz="1600" b="1" err="1"/>
              <a:t>akhir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/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Dbprk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https://socs1.binus.ac.id/dbprk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akses</a:t>
            </a:r>
            <a:r>
              <a:rPr lang="en-US" sz="1400"/>
              <a:t> </a:t>
            </a:r>
            <a:r>
              <a:rPr lang="en-US" sz="1400" err="1"/>
              <a:t>secara</a:t>
            </a:r>
            <a:r>
              <a:rPr lang="en-US" sz="1400"/>
              <a:t> global)</a:t>
            </a:r>
            <a:endParaRPr lang="en-US" sz="1400">
              <a:latin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dbprk.slc.net</a:t>
            </a:r>
            <a:r>
              <a:rPr lang="en-US" sz="1400">
                <a:latin typeface="Open Sans"/>
              </a:rPr>
              <a:t> (</a:t>
            </a:r>
            <a:r>
              <a:rPr lang="en-US" sz="1400" err="1">
                <a:latin typeface="Open Sans"/>
              </a:rPr>
              <a:t>untuk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akses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secara</a:t>
            </a:r>
            <a:r>
              <a:rPr lang="en-US" sz="1400">
                <a:latin typeface="Open Sans"/>
              </a:rPr>
              <a:t> local)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Dbprk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latihan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/</a:t>
            </a:r>
            <a:r>
              <a:rPr lang="en-US" sz="1600" err="1"/>
              <a:t>ujian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Dbprk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Galaxion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1A506-1F63-11CE-A071-B58164D16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700" y="5080001"/>
            <a:ext cx="4292600" cy="1473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6145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Algo.binus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untuk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pelaksanaan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mata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berkaitan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dengan</a:t>
            </a:r>
            <a:r>
              <a:rPr lang="en-US" sz="1600">
                <a:latin typeface="Open Sans"/>
              </a:rPr>
              <a:t> </a:t>
            </a:r>
            <a:r>
              <a:rPr lang="en-US" sz="1600" b="1">
                <a:latin typeface="Open Sans"/>
              </a:rPr>
              <a:t>algorithm</a:t>
            </a:r>
            <a:r>
              <a:rPr lang="en-US" sz="1600">
                <a:latin typeface="Open Sans"/>
              </a:rPr>
              <a:t>, </a:t>
            </a:r>
            <a:r>
              <a:rPr lang="en-US" sz="1600" err="1">
                <a:latin typeface="Open Sans"/>
              </a:rPr>
              <a:t>seperti</a:t>
            </a:r>
            <a:r>
              <a:rPr lang="en-US" sz="1600">
                <a:latin typeface="Open Sans"/>
              </a:rPr>
              <a:t> Algorithm &amp; Programming,</a:t>
            </a:r>
            <a:r>
              <a:rPr lang="en-US" sz="1600"/>
              <a:t>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pelaksanaan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dan </a:t>
            </a:r>
            <a:r>
              <a:rPr lang="en-US" sz="1600" b="1" err="1"/>
              <a:t>ujian</a:t>
            </a:r>
            <a:r>
              <a:rPr lang="en-US" sz="1600" b="1"/>
              <a:t> </a:t>
            </a:r>
            <a:r>
              <a:rPr lang="en-US" sz="1600" b="1" err="1"/>
              <a:t>akhir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/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Algo.binus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https://socs1.binus.ac.id/quiz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akses</a:t>
            </a:r>
            <a:r>
              <a:rPr lang="en-US" sz="1400"/>
              <a:t> </a:t>
            </a:r>
            <a:r>
              <a:rPr lang="en-US" sz="1400" err="1"/>
              <a:t>secara</a:t>
            </a:r>
            <a:r>
              <a:rPr lang="en-US" sz="1400"/>
              <a:t> global)</a:t>
            </a:r>
            <a:endParaRPr lang="en-US" sz="1400">
              <a:latin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>
                <a:latin typeface="Open Sans"/>
              </a:rPr>
              <a:t>algo.binus</a:t>
            </a:r>
            <a:r>
              <a:rPr lang="en-US" sz="1400">
                <a:latin typeface="Open Sans"/>
              </a:rPr>
              <a:t> (</a:t>
            </a:r>
            <a:r>
              <a:rPr lang="en-US" sz="1400" err="1">
                <a:latin typeface="Open Sans"/>
              </a:rPr>
              <a:t>untuk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akses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secara</a:t>
            </a:r>
            <a:r>
              <a:rPr lang="en-US" sz="1400">
                <a:latin typeface="Open Sans"/>
              </a:rPr>
              <a:t> local)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Algo.binus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C92F2C-3C2F-3036-766C-72B4B3019DAC}"/>
              </a:ext>
            </a:extLst>
          </p:cNvPr>
          <p:cNvGrpSpPr/>
          <p:nvPr/>
        </p:nvGrpSpPr>
        <p:grpSpPr>
          <a:xfrm>
            <a:off x="1511299" y="4044620"/>
            <a:ext cx="6781800" cy="2508581"/>
            <a:chOff x="1344887" y="4010800"/>
            <a:chExt cx="6781800" cy="250858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8CC70CB-CBCB-EC6F-4C66-D355AF9C8E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765" b="37626"/>
            <a:stretch/>
          </p:blipFill>
          <p:spPr>
            <a:xfrm>
              <a:off x="1344887" y="4010800"/>
              <a:ext cx="6781800" cy="25085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5E7B56-CEB0-71F6-D067-8BEB08A5D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 l="4795" t="31804" r="71610" b="38008"/>
            <a:stretch/>
          </p:blipFill>
          <p:spPr>
            <a:xfrm>
              <a:off x="1676400" y="5181600"/>
              <a:ext cx="1600200" cy="133778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41245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Web Laboratory </a:t>
            </a:r>
            <a:r>
              <a:rPr lang="en-US" sz="1600" err="1">
                <a:latin typeface="Open Sans"/>
              </a:rPr>
              <a:t>digunakan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untuk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pelaksanaan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kuis</a:t>
            </a:r>
            <a:r>
              <a:rPr lang="en-US" sz="1600" b="1">
                <a:latin typeface="Open Sans"/>
              </a:rPr>
              <a:t> dan </a:t>
            </a:r>
            <a:r>
              <a:rPr lang="en-US" sz="1600" b="1" err="1">
                <a:latin typeface="Open Sans"/>
              </a:rPr>
              <a:t>ujian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akhir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praktikum</a:t>
            </a:r>
            <a:r>
              <a:rPr lang="en-US" sz="1600" b="1">
                <a:latin typeface="Open Sans"/>
              </a:rPr>
              <a:t> yang </a:t>
            </a:r>
            <a:r>
              <a:rPr lang="en-US" sz="1600" b="1" err="1">
                <a:latin typeface="Open Sans"/>
              </a:rPr>
              <a:t>berjalan</a:t>
            </a:r>
            <a:r>
              <a:rPr lang="en-US" sz="1600" b="1">
                <a:latin typeface="Open Sans"/>
              </a:rPr>
              <a:t> onsite </a:t>
            </a:r>
            <a:r>
              <a:rPr lang="en-US" sz="1600" b="1" err="1">
                <a:latin typeface="Open Sans"/>
              </a:rPr>
              <a:t>untuk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semua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mata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selain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menggunakan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algo.binus</a:t>
            </a:r>
            <a:r>
              <a:rPr lang="en-US" sz="1600">
                <a:latin typeface="Open Sans"/>
              </a:rPr>
              <a:t> dan </a:t>
            </a:r>
            <a:r>
              <a:rPr lang="en-US" sz="1600" err="1">
                <a:latin typeface="Open Sans"/>
              </a:rPr>
              <a:t>dbprk</a:t>
            </a:r>
            <a:r>
              <a:rPr lang="en-US" sz="1600">
                <a:latin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Web Laboratory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l</a:t>
            </a:r>
            <a:r>
              <a:rPr lang="en-US" sz="1400" err="1">
                <a:latin typeface="Open Sans"/>
              </a:rPr>
              <a:t>ab.slc.net</a:t>
            </a:r>
            <a:r>
              <a:rPr lang="en-US" sz="1400">
                <a:latin typeface="Open Sans"/>
              </a:rPr>
              <a:t> (</a:t>
            </a:r>
            <a:r>
              <a:rPr lang="en-US" sz="1400" err="1">
                <a:latin typeface="Open Sans"/>
              </a:rPr>
              <a:t>hanya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dapat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diakses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secara</a:t>
            </a:r>
            <a:r>
              <a:rPr lang="en-US" sz="1400">
                <a:latin typeface="Open Sans"/>
              </a:rPr>
              <a:t> local di PC BINUS)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Laboratory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C5C20D-D041-8151-462A-8C5AB557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426" y="3672668"/>
            <a:ext cx="5944378" cy="208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0669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Web Laboratory </a:t>
            </a:r>
            <a:r>
              <a:rPr lang="en-US" sz="1600" err="1">
                <a:latin typeface="Open Sans"/>
              </a:rPr>
              <a:t>digunakan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untuk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pelaksanaan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kuis</a:t>
            </a:r>
            <a:r>
              <a:rPr lang="en-US" sz="1600" b="1">
                <a:latin typeface="Open Sans"/>
              </a:rPr>
              <a:t> dan </a:t>
            </a:r>
            <a:r>
              <a:rPr lang="en-US" sz="1600" b="1" err="1">
                <a:latin typeface="Open Sans"/>
              </a:rPr>
              <a:t>ujian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akhir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praktikum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semua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mata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selain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menggunakan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algo.binus</a:t>
            </a:r>
            <a:r>
              <a:rPr lang="en-US" sz="1600">
                <a:latin typeface="Open Sans"/>
              </a:rPr>
              <a:t> dan </a:t>
            </a:r>
            <a:r>
              <a:rPr lang="en-US" sz="1600" err="1">
                <a:latin typeface="Open Sans"/>
              </a:rPr>
              <a:t>dbprk</a:t>
            </a:r>
            <a:r>
              <a:rPr lang="en-US" sz="1600">
                <a:latin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Web Laboratory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https://laboratory.binus.ac.id/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akses</a:t>
            </a:r>
            <a:r>
              <a:rPr lang="en-US" sz="1400"/>
              <a:t> </a:t>
            </a:r>
            <a:r>
              <a:rPr lang="en-US" sz="1400" err="1"/>
              <a:t>secara</a:t>
            </a:r>
            <a:r>
              <a:rPr lang="en-US" sz="1400"/>
              <a:t> global)</a:t>
            </a:r>
            <a:endParaRPr lang="en-US" sz="1400">
              <a:latin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l</a:t>
            </a:r>
            <a:r>
              <a:rPr lang="en-US" sz="1400" err="1">
                <a:latin typeface="Open Sans"/>
              </a:rPr>
              <a:t>ab.slc.net</a:t>
            </a:r>
            <a:r>
              <a:rPr lang="en-US" sz="1400">
                <a:latin typeface="Open Sans"/>
              </a:rPr>
              <a:t> (</a:t>
            </a:r>
            <a:r>
              <a:rPr lang="en-US" sz="1400" err="1">
                <a:latin typeface="Open Sans"/>
              </a:rPr>
              <a:t>untuk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akses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secara</a:t>
            </a:r>
            <a:r>
              <a:rPr lang="en-US" sz="1400">
                <a:latin typeface="Open Sans"/>
              </a:rPr>
              <a:t> local)</a:t>
            </a:r>
          </a:p>
          <a:p>
            <a:pPr lvl="1" algn="just">
              <a:lnSpc>
                <a:spcPct val="150000"/>
              </a:lnSpc>
            </a:pPr>
            <a:endParaRPr lang="en-US" sz="140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Laboratory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C5C20D-D041-8151-462A-8C5AB5572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10" y="4267200"/>
            <a:ext cx="5944378" cy="208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706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26841F-08A8-F735-DB49-E86CF797F803}"/>
              </a:ext>
            </a:extLst>
          </p:cNvPr>
          <p:cNvSpPr/>
          <p:nvPr/>
        </p:nvSpPr>
        <p:spPr>
          <a:xfrm>
            <a:off x="1295400" y="2286000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praktikum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4A5DBF7-8928-FFDF-2932-E7C54A18520D}"/>
              </a:ext>
            </a:extLst>
          </p:cNvPr>
          <p:cNvSpPr txBox="1">
            <a:spLocks/>
          </p:cNvSpPr>
          <p:nvPr/>
        </p:nvSpPr>
        <p:spPr>
          <a:xfrm rot="21111523">
            <a:off x="966509" y="2610047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98410934-6C32-4069-6F90-DFD677827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4406639"/>
            <a:ext cx="7772400" cy="15436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681317" y="4305301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Record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– Learning Management System (</a:t>
            </a:r>
            <a:r>
              <a:rPr lang="en-US" sz="1600" b="1" err="1"/>
              <a:t>Newbinusmaya</a:t>
            </a:r>
            <a:r>
              <a:rPr lang="en-US" sz="1600" b="1"/>
              <a:t>)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memilih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dan </a:t>
            </a:r>
            <a:r>
              <a:rPr lang="en-US" sz="1600" err="1"/>
              <a:t>sesi</a:t>
            </a:r>
            <a:r>
              <a:rPr lang="en-US" sz="1600"/>
              <a:t> yang </a:t>
            </a:r>
            <a:r>
              <a:rPr lang="en-US" sz="1600" err="1"/>
              <a:t>sesuai</a:t>
            </a:r>
            <a:r>
              <a:rPr lang="en-US" sz="1600"/>
              <a:t>, </a:t>
            </a:r>
            <a:r>
              <a:rPr lang="en-US" sz="1600" err="1"/>
              <a:t>lalu</a:t>
            </a:r>
            <a:r>
              <a:rPr lang="en-US" sz="1600"/>
              <a:t> </a:t>
            </a:r>
            <a:r>
              <a:rPr lang="en-US" sz="1600" err="1"/>
              <a:t>pilih</a:t>
            </a:r>
            <a:r>
              <a:rPr lang="en-US" sz="1600"/>
              <a:t> Zoom Recording, </a:t>
            </a:r>
            <a:r>
              <a:rPr lang="en-US" sz="1600" err="1"/>
              <a:t>namun</a:t>
            </a:r>
            <a:r>
              <a:rPr lang="en-US" sz="1600"/>
              <a:t> </a:t>
            </a:r>
            <a:r>
              <a:rPr lang="en-US" sz="1600" err="1"/>
              <a:t>bisa</a:t>
            </a:r>
            <a:r>
              <a:rPr lang="en-US" sz="1600"/>
              <a:t> </a:t>
            </a:r>
            <a:r>
              <a:rPr lang="en-US" sz="1600" err="1"/>
              <a:t>memerlukan</a:t>
            </a:r>
            <a:r>
              <a:rPr lang="en-US" sz="1600"/>
              <a:t> </a:t>
            </a:r>
            <a:r>
              <a:rPr lang="en-US" sz="1600" err="1"/>
              <a:t>beberapa</a:t>
            </a:r>
            <a:r>
              <a:rPr lang="en-US" sz="1600"/>
              <a:t> </a:t>
            </a:r>
            <a:r>
              <a:rPr lang="en-US" sz="1600" err="1"/>
              <a:t>hari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pertemuan</a:t>
            </a:r>
            <a:r>
              <a:rPr lang="en-US" sz="160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Recording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1AFE210-0FF3-B014-4D06-12B54846FC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58" y="3106312"/>
            <a:ext cx="7346078" cy="34663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0462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pembelajaran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/>
              <a:t>Practicum Case </a:t>
            </a:r>
            <a:r>
              <a:rPr lang="en-US" sz="1600"/>
              <a:t>dan </a:t>
            </a:r>
            <a:r>
              <a:rPr lang="en-US" sz="1600" b="1"/>
              <a:t>Video Based Learning</a:t>
            </a:r>
            <a:r>
              <a:rPr lang="en-US" sz="1600"/>
              <a:t> yang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melalui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Practicum </a:t>
            </a:r>
            <a:r>
              <a:rPr lang="en-US" sz="1400">
                <a:sym typeface="Wingdings" pitchFamily="2" charset="2"/>
              </a:rPr>
              <a:t> My Course List  </a:t>
            </a:r>
            <a:r>
              <a:rPr lang="en-US" sz="1400" err="1">
                <a:sym typeface="Wingdings" pitchFamily="2" charset="2"/>
              </a:rPr>
              <a:t>Pilih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mata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kuliah</a:t>
            </a:r>
            <a:r>
              <a:rPr lang="en-US" sz="1400">
                <a:sym typeface="Wingdings" pitchFamily="2" charset="2"/>
              </a:rPr>
              <a:t>  Self Learning</a:t>
            </a: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Based Learning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0B3350F-6C94-FFE2-4E38-F3A83C311B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071" y="3668003"/>
            <a:ext cx="4709015" cy="245393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1BC6707-4CD5-F63F-0221-ABED44345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92" y="3668003"/>
            <a:ext cx="3745161" cy="244816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C7882B-868C-3172-D6BB-1A178143BED0}"/>
              </a:ext>
            </a:extLst>
          </p:cNvPr>
          <p:cNvSpPr/>
          <p:nvPr/>
        </p:nvSpPr>
        <p:spPr>
          <a:xfrm>
            <a:off x="3315672" y="4371676"/>
            <a:ext cx="754803" cy="2966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96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Proyek</a:t>
            </a:r>
            <a:r>
              <a:rPr lang="en-US"/>
              <a:t> &amp; </a:t>
            </a:r>
            <a:r>
              <a:rPr lang="en-US" err="1"/>
              <a:t>Kuis</a:t>
            </a:r>
            <a:r>
              <a:rPr lang="en-US"/>
              <a:t> </a:t>
            </a:r>
            <a:r>
              <a:rPr lang="en-US" err="1"/>
              <a:t>Bawa</a:t>
            </a:r>
            <a:r>
              <a:rPr lang="en-US"/>
              <a:t> </a:t>
            </a:r>
            <a:r>
              <a:rPr lang="en-US" err="1"/>
              <a:t>Pulang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23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Pembentukan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737986-210A-1B48-517D-A1F2CAF11462}"/>
              </a:ext>
            </a:extLst>
          </p:cNvPr>
          <p:cNvSpPr txBox="1">
            <a:spLocks/>
          </p:cNvSpPr>
          <p:nvPr/>
        </p:nvSpPr>
        <p:spPr>
          <a:xfrm>
            <a:off x="987296" y="1468398"/>
            <a:ext cx="7683501" cy="21305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500" dirty="0"/>
              <a:t>Masa </a:t>
            </a:r>
            <a:r>
              <a:rPr lang="en-US" sz="1500" dirty="0" err="1"/>
              <a:t>pembentukan</a:t>
            </a:r>
            <a:r>
              <a:rPr lang="en-US" sz="1500" dirty="0"/>
              <a:t> </a:t>
            </a:r>
            <a:r>
              <a:rPr lang="en-US" sz="1500" dirty="0" err="1"/>
              <a:t>kelompok</a:t>
            </a:r>
            <a:r>
              <a:rPr lang="en-US" sz="1500" dirty="0"/>
              <a:t> </a:t>
            </a:r>
            <a:r>
              <a:rPr lang="en-US" sz="1500" dirty="0" err="1"/>
              <a:t>adalah</a:t>
            </a:r>
            <a:r>
              <a:rPr lang="en-US" sz="1500" dirty="0"/>
              <a:t> </a:t>
            </a:r>
            <a:r>
              <a:rPr lang="en-US" sz="1500" b="1" dirty="0"/>
              <a:t>7 September – 19 Oktober 2026</a:t>
            </a:r>
            <a:r>
              <a:rPr lang="en-US" sz="1500" dirty="0"/>
              <a:t>.</a:t>
            </a:r>
            <a:endParaRPr lang="en-US" sz="15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500" dirty="0"/>
              <a:t>Proses </a:t>
            </a:r>
            <a:r>
              <a:rPr lang="en-US" sz="1500" dirty="0" err="1"/>
              <a:t>pembentukan</a:t>
            </a:r>
            <a:r>
              <a:rPr lang="en-US" sz="1500" dirty="0"/>
              <a:t> </a:t>
            </a:r>
            <a:r>
              <a:rPr lang="en-US" sz="1500" dirty="0" err="1"/>
              <a:t>kelompok</a:t>
            </a:r>
            <a:r>
              <a:rPr lang="en-US" sz="1500" dirty="0"/>
              <a:t>, </a:t>
            </a:r>
            <a:r>
              <a:rPr lang="en-US" sz="1500" dirty="0" err="1"/>
              <a:t>akses</a:t>
            </a:r>
            <a:r>
              <a:rPr lang="en-US" sz="1500" dirty="0"/>
              <a:t> </a:t>
            </a:r>
            <a:r>
              <a:rPr lang="en-US" sz="1500" dirty="0" err="1"/>
              <a:t>soal</a:t>
            </a:r>
            <a:r>
              <a:rPr lang="en-US" sz="1500" dirty="0"/>
              <a:t>, </a:t>
            </a:r>
            <a:r>
              <a:rPr lang="en-US" sz="1500" dirty="0" err="1"/>
              <a:t>hingga</a:t>
            </a:r>
            <a:r>
              <a:rPr lang="en-US" sz="1500" dirty="0"/>
              <a:t> </a:t>
            </a:r>
            <a:r>
              <a:rPr lang="en-US" sz="1500" dirty="0" err="1"/>
              <a:t>tahap</a:t>
            </a:r>
            <a:r>
              <a:rPr lang="en-US" sz="1500" dirty="0"/>
              <a:t> </a:t>
            </a:r>
            <a:r>
              <a:rPr lang="en-US" sz="1500" dirty="0" err="1"/>
              <a:t>pengumpulan</a:t>
            </a:r>
            <a:r>
              <a:rPr lang="en-US" sz="1500" dirty="0"/>
              <a:t> </a:t>
            </a:r>
            <a:r>
              <a:rPr lang="en-US" sz="1500" dirty="0" err="1"/>
              <a:t>dilakukan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online </a:t>
            </a:r>
            <a:r>
              <a:rPr lang="en-US" sz="1500" dirty="0" err="1"/>
              <a:t>melalui</a:t>
            </a:r>
            <a:r>
              <a:rPr lang="en-US" sz="1500" dirty="0"/>
              <a:t> </a:t>
            </a:r>
            <a:r>
              <a:rPr lang="en-US" sz="1500" b="1" dirty="0" err="1"/>
              <a:t>Binusmaya</a:t>
            </a:r>
            <a:r>
              <a:rPr lang="en-US" sz="1500" b="1" dirty="0"/>
              <a:t> Practicum</a:t>
            </a:r>
            <a:r>
              <a:rPr lang="en-US" sz="1500" dirty="0"/>
              <a:t>.</a:t>
            </a:r>
            <a:endParaRPr lang="en-US" sz="15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500" dirty="0" err="1">
                <a:ea typeface="Open Sans"/>
                <a:cs typeface="Open Sans"/>
              </a:rPr>
              <a:t>Pembetukan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dirty="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dirty="0" err="1">
                <a:ea typeface="Open Sans"/>
                <a:cs typeface="Open Sans"/>
              </a:rPr>
              <a:t>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dirty="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dirty="0" err="1">
                <a:ea typeface="Open Sans"/>
                <a:cs typeface="Open Sans"/>
              </a:rPr>
              <a:t>melalui</a:t>
            </a:r>
            <a:r>
              <a:rPr lang="en-US" sz="1500" dirty="0">
                <a:ea typeface="Open Sans"/>
                <a:cs typeface="Open Sans"/>
              </a:rPr>
              <a:t> My Course List </a:t>
            </a:r>
            <a:r>
              <a:rPr lang="en-US" sz="1500" dirty="0">
                <a:sym typeface="Wingdings" pitchFamily="2" charset="2"/>
              </a:rPr>
              <a:t> </a:t>
            </a:r>
            <a:r>
              <a:rPr lang="en-US" sz="1500" dirty="0" err="1">
                <a:sym typeface="Wingdings" pitchFamily="2" charset="2"/>
              </a:rPr>
              <a:t>Pilih</a:t>
            </a:r>
            <a:r>
              <a:rPr lang="en-US" sz="1500" dirty="0">
                <a:sym typeface="Wingdings" pitchFamily="2" charset="2"/>
              </a:rPr>
              <a:t> </a:t>
            </a:r>
            <a:r>
              <a:rPr lang="en-US" sz="1500" dirty="0" err="1">
                <a:sym typeface="Wingdings" pitchFamily="2" charset="2"/>
              </a:rPr>
              <a:t>mata</a:t>
            </a:r>
            <a:r>
              <a:rPr lang="en-US" sz="1500" dirty="0">
                <a:sym typeface="Wingdings" pitchFamily="2" charset="2"/>
              </a:rPr>
              <a:t> </a:t>
            </a:r>
            <a:r>
              <a:rPr lang="en-US" sz="1500" dirty="0" err="1">
                <a:sym typeface="Wingdings" pitchFamily="2" charset="2"/>
              </a:rPr>
              <a:t>kuliah</a:t>
            </a:r>
            <a:r>
              <a:rPr lang="en-US" sz="1500" dirty="0">
                <a:sym typeface="Wingdings" pitchFamily="2" charset="2"/>
              </a:rPr>
              <a:t>  Group Detail. Lalu, </a:t>
            </a:r>
            <a:r>
              <a:rPr lang="en-US" sz="1500" dirty="0" err="1">
                <a:sym typeface="Wingdings" pitchFamily="2" charset="2"/>
              </a:rPr>
              <a:t>masukkan</a:t>
            </a:r>
            <a:r>
              <a:rPr lang="en-US" sz="1500" dirty="0">
                <a:sym typeface="Wingdings" pitchFamily="2" charset="2"/>
              </a:rPr>
              <a:t> NIM </a:t>
            </a:r>
            <a:r>
              <a:rPr lang="en-US" sz="1500" dirty="0" err="1">
                <a:sym typeface="Wingdings" pitchFamily="2" charset="2"/>
              </a:rPr>
              <a:t>anggota</a:t>
            </a:r>
            <a:r>
              <a:rPr lang="en-US" sz="1500" dirty="0">
                <a:sym typeface="Wingdings" pitchFamily="2" charset="2"/>
              </a:rPr>
              <a:t> </a:t>
            </a:r>
            <a:r>
              <a:rPr lang="en-US" sz="1500" dirty="0" err="1">
                <a:sym typeface="Wingdings" pitchFamily="2" charset="2"/>
              </a:rPr>
              <a:t>kelompok</a:t>
            </a:r>
            <a:r>
              <a:rPr lang="en-US" sz="1500" dirty="0">
                <a:sym typeface="Wingdings" pitchFamily="2" charset="2"/>
              </a:rPr>
              <a:t>. </a:t>
            </a:r>
            <a:r>
              <a:rPr lang="en-US" sz="1500" dirty="0" err="1">
                <a:sym typeface="Wingdings" pitchFamily="2" charset="2"/>
              </a:rPr>
              <a:t>Kemudian</a:t>
            </a:r>
            <a:r>
              <a:rPr lang="en-US" sz="1500" dirty="0">
                <a:sym typeface="Wingdings" pitchFamily="2" charset="2"/>
              </a:rPr>
              <a:t>, </a:t>
            </a:r>
            <a:r>
              <a:rPr lang="en-US" sz="1500" dirty="0" err="1">
                <a:sym typeface="Wingdings" pitchFamily="2" charset="2"/>
              </a:rPr>
              <a:t>akan</a:t>
            </a:r>
            <a:r>
              <a:rPr lang="en-US" sz="1500" dirty="0">
                <a:sym typeface="Wingdings" pitchFamily="2" charset="2"/>
              </a:rPr>
              <a:t> </a:t>
            </a:r>
            <a:r>
              <a:rPr lang="en-US" sz="1500" dirty="0" err="1">
                <a:sym typeface="Wingdings" pitchFamily="2" charset="2"/>
              </a:rPr>
              <a:t>muncul</a:t>
            </a:r>
            <a:r>
              <a:rPr lang="en-US" sz="1500" dirty="0">
                <a:sym typeface="Wingdings" pitchFamily="2" charset="2"/>
              </a:rPr>
              <a:t> </a:t>
            </a:r>
            <a:r>
              <a:rPr lang="en-US" sz="1500" dirty="0" err="1">
                <a:sym typeface="Wingdings" pitchFamily="2" charset="2"/>
              </a:rPr>
              <a:t>konfirmasi</a:t>
            </a:r>
            <a:r>
              <a:rPr lang="en-US" sz="1500" dirty="0">
                <a:sym typeface="Wingdings" pitchFamily="2" charset="2"/>
              </a:rPr>
              <a:t>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D8916-6D77-A6FC-8B2E-F1369CFE1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1" y="3992143"/>
            <a:ext cx="4254433" cy="2490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092809-80AF-6EFC-31B2-065AEEB1D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654" y="4000704"/>
            <a:ext cx="3411604" cy="249095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FA6D9E-1AE4-93EE-3121-D012A4ED1ACB}"/>
              </a:ext>
            </a:extLst>
          </p:cNvPr>
          <p:cNvCxnSpPr/>
          <p:nvPr/>
        </p:nvCxnSpPr>
        <p:spPr>
          <a:xfrm>
            <a:off x="4489704" y="4480560"/>
            <a:ext cx="631950" cy="4389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433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err="1"/>
              <a:t>terbentuk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b="1" err="1"/>
              <a:t>setiap</a:t>
            </a:r>
            <a:r>
              <a:rPr lang="en-US" sz="1600" b="1"/>
              <a:t> </a:t>
            </a:r>
            <a:r>
              <a:rPr lang="en-US" sz="1600" b="1" err="1"/>
              <a:t>anggota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selesai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“Accept”</a:t>
            </a:r>
            <a:r>
              <a:rPr lang="en-US" sz="1600"/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Soal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err="1"/>
              <a:t>dibuat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Pembentukan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0E4B21-9780-D4DC-E333-47D7608BC4D1}"/>
              </a:ext>
            </a:extLst>
          </p:cNvPr>
          <p:cNvSpPr txBox="1">
            <a:spLocks/>
          </p:cNvSpPr>
          <p:nvPr/>
        </p:nvSpPr>
        <p:spPr>
          <a:xfrm>
            <a:off x="1060449" y="4800600"/>
            <a:ext cx="7696201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14AC2-3EE2-0D71-9CF9-ABB5CF716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74" y="2779776"/>
            <a:ext cx="6152271" cy="38679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2482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Mahasiswa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wajib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menyimpan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bukti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i="1">
                <a:latin typeface="Open Sans"/>
              </a:rPr>
              <a:t>screenshot</a:t>
            </a:r>
            <a:r>
              <a:rPr lang="en-US" sz="1600" b="1">
                <a:latin typeface="Open Sans"/>
              </a:rPr>
              <a:t> email </a:t>
            </a:r>
            <a:r>
              <a:rPr lang="en-US" sz="1600" b="1" err="1">
                <a:latin typeface="Open Sans"/>
              </a:rPr>
              <a:t>konfirmasi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dar</a:t>
            </a:r>
            <a:r>
              <a:rPr lang="en-US" sz="1600" err="1"/>
              <a:t>i</a:t>
            </a:r>
            <a:r>
              <a:rPr lang="en-US" sz="1600"/>
              <a:t> Software Laboratory Center (</a:t>
            </a:r>
            <a:r>
              <a:rPr lang="en-US" sz="1600">
                <a:hlinkClick r:id="rId2"/>
              </a:rPr>
              <a:t>slc@binus.edu</a:t>
            </a:r>
            <a:r>
              <a:rPr lang="en-US" sz="1600"/>
              <a:t>)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err="1"/>
              <a:t>terbentuk</a:t>
            </a:r>
            <a:r>
              <a:rPr lang="en-US" sz="1600"/>
              <a:t> dan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pembentukan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 b="1"/>
              <a:t> pada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Pembentukan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57467D-2274-44DF-49EB-4CB0E7231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91" y="4261378"/>
            <a:ext cx="4184651" cy="198649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28323-F14B-FA65-77F4-E77D4E0E9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" y="3283060"/>
            <a:ext cx="4254433" cy="249095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EB26B0-967D-656C-FF33-493DDE9E9217}"/>
              </a:ext>
            </a:extLst>
          </p:cNvPr>
          <p:cNvCxnSpPr/>
          <p:nvPr/>
        </p:nvCxnSpPr>
        <p:spPr>
          <a:xfrm>
            <a:off x="4500287" y="3771477"/>
            <a:ext cx="631950" cy="4389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395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Pembentukan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236FE9-8ECB-0AFA-4C4A-BD2DD34466C6}"/>
              </a:ext>
            </a:extLst>
          </p:cNvPr>
          <p:cNvSpPr txBox="1">
            <a:spLocks/>
          </p:cNvSpPr>
          <p:nvPr/>
        </p:nvSpPr>
        <p:spPr>
          <a:xfrm>
            <a:off x="1143000" y="1600200"/>
            <a:ext cx="4267200" cy="1295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anggota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yang </a:t>
            </a:r>
            <a:r>
              <a:rPr lang="en-US" sz="1600" b="1" err="1"/>
              <a:t>belum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</a:t>
            </a:r>
            <a:r>
              <a:rPr lang="en-US" sz="1600" b="1" i="1"/>
              <a:t>Accept</a:t>
            </a:r>
            <a:r>
              <a:rPr lang="en-US" sz="1600" b="1"/>
              <a:t>” </a:t>
            </a:r>
            <a:r>
              <a:rPr lang="en-US" sz="1600" err="1"/>
              <a:t>sampai</a:t>
            </a:r>
            <a:r>
              <a:rPr lang="en-US" sz="1600"/>
              <a:t> masa </a:t>
            </a:r>
            <a:r>
              <a:rPr lang="en-US" sz="1600" err="1"/>
              <a:t>pembentukan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berakhir</a:t>
            </a:r>
            <a:r>
              <a:rPr lang="en-US" sz="1600"/>
              <a:t>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CE9FCF-08F3-EA31-8A9B-008CF39EFE39}"/>
              </a:ext>
            </a:extLst>
          </p:cNvPr>
          <p:cNvSpPr txBox="1">
            <a:spLocks/>
          </p:cNvSpPr>
          <p:nvPr/>
        </p:nvSpPr>
        <p:spPr>
          <a:xfrm>
            <a:off x="1146545" y="3083879"/>
            <a:ext cx="4267200" cy="906426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>
                <a:latin typeface="Open Sans"/>
              </a:rPr>
              <a:t>Jika salah </a:t>
            </a:r>
            <a:r>
              <a:rPr lang="en-US" sz="1600" err="1">
                <a:latin typeface="Open Sans"/>
              </a:rPr>
              <a:t>satu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anggota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kelompok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memilih</a:t>
            </a:r>
            <a:r>
              <a:rPr lang="en-US" sz="1600" b="1">
                <a:latin typeface="Open Sans"/>
              </a:rPr>
              <a:t> “</a:t>
            </a:r>
            <a:r>
              <a:rPr lang="en-US" sz="1600" b="1" i="1">
                <a:latin typeface="Open Sans"/>
              </a:rPr>
              <a:t>Decline</a:t>
            </a:r>
            <a:r>
              <a:rPr lang="en-US" sz="1600" b="1">
                <a:latin typeface="Open Sans"/>
              </a:rPr>
              <a:t>”</a:t>
            </a:r>
            <a:r>
              <a:rPr lang="en-US" sz="1600">
                <a:latin typeface="Open Sans"/>
              </a:rPr>
              <a:t>,</a:t>
            </a:r>
            <a:endParaRPr lang="en-US" sz="1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D99C87-B0C8-13C7-B747-D44EF31D6879}"/>
              </a:ext>
            </a:extLst>
          </p:cNvPr>
          <p:cNvSpPr txBox="1">
            <a:spLocks/>
          </p:cNvSpPr>
          <p:nvPr/>
        </p:nvSpPr>
        <p:spPr>
          <a:xfrm>
            <a:off x="1143000" y="5273289"/>
            <a:ext cx="4267200" cy="1274803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>
                <a:latin typeface="Open Sans"/>
              </a:rPr>
              <a:t>Jika </a:t>
            </a:r>
            <a:r>
              <a:rPr lang="en-US" sz="1600" b="1" err="1">
                <a:latin typeface="Open Sans"/>
              </a:rPr>
              <a:t>tidak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melakukan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pembentukan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kelompok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hingga</a:t>
            </a:r>
            <a:r>
              <a:rPr lang="en-US" sz="1600">
                <a:latin typeface="Open Sans"/>
              </a:rPr>
              <a:t> masa </a:t>
            </a:r>
            <a:r>
              <a:rPr lang="en-US" sz="1600" err="1">
                <a:latin typeface="Open Sans"/>
              </a:rPr>
              <a:t>pembentukan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kelompok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berakhir</a:t>
            </a:r>
            <a:r>
              <a:rPr lang="en-US" sz="1600">
                <a:latin typeface="Open Sans"/>
              </a:rPr>
              <a:t>,</a:t>
            </a:r>
            <a:endParaRPr lang="en-US" sz="16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91907B-4D4F-916F-D830-AB56213EECED}"/>
              </a:ext>
            </a:extLst>
          </p:cNvPr>
          <p:cNvSpPr txBox="1">
            <a:spLocks/>
          </p:cNvSpPr>
          <p:nvPr/>
        </p:nvSpPr>
        <p:spPr>
          <a:xfrm>
            <a:off x="6246925" y="3516108"/>
            <a:ext cx="2578100" cy="906426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dibentuk</a:t>
            </a:r>
            <a:r>
              <a:rPr lang="en-US" sz="1600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acak</a:t>
            </a:r>
            <a:r>
              <a:rPr lang="en-US" sz="1600"/>
              <a:t>.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62F2ACD-2C29-708C-71DE-ECFBB6526E6C}"/>
              </a:ext>
            </a:extLst>
          </p:cNvPr>
          <p:cNvSpPr/>
          <p:nvPr/>
        </p:nvSpPr>
        <p:spPr>
          <a:xfrm rot="1233381">
            <a:off x="5725814" y="2685377"/>
            <a:ext cx="336043" cy="31941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89458A5-707A-963A-3B4C-F21F70895C32}"/>
              </a:ext>
            </a:extLst>
          </p:cNvPr>
          <p:cNvSpPr/>
          <p:nvPr/>
        </p:nvSpPr>
        <p:spPr>
          <a:xfrm>
            <a:off x="5725813" y="3484965"/>
            <a:ext cx="336043" cy="31941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C1C3397-0EDF-3A78-8D69-16167F6B5AF5}"/>
              </a:ext>
            </a:extLst>
          </p:cNvPr>
          <p:cNvSpPr/>
          <p:nvPr/>
        </p:nvSpPr>
        <p:spPr>
          <a:xfrm>
            <a:off x="5740845" y="4230941"/>
            <a:ext cx="336043" cy="31941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130DE63-8BFC-F0D0-ECAB-25E5F58618F7}"/>
              </a:ext>
            </a:extLst>
          </p:cNvPr>
          <p:cNvSpPr txBox="1">
            <a:spLocks/>
          </p:cNvSpPr>
          <p:nvPr/>
        </p:nvSpPr>
        <p:spPr>
          <a:xfrm>
            <a:off x="1143000" y="4178584"/>
            <a:ext cx="4267200" cy="906426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>
                <a:latin typeface="Open Sans"/>
              </a:rPr>
              <a:t>Jika salah </a:t>
            </a:r>
            <a:r>
              <a:rPr lang="en-US" sz="1600" err="1">
                <a:latin typeface="Open Sans"/>
              </a:rPr>
              <a:t>satu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anggota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kelompok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keluar</a:t>
            </a:r>
            <a:r>
              <a:rPr lang="en-US" sz="1600" b="1">
                <a:latin typeface="Open Sans"/>
              </a:rPr>
              <a:t>/</a:t>
            </a:r>
            <a:r>
              <a:rPr lang="en-US" sz="1600" b="1" err="1">
                <a:latin typeface="Open Sans"/>
              </a:rPr>
              <a:t>pindah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dari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kelas</a:t>
            </a:r>
            <a:r>
              <a:rPr lang="en-US" sz="1600">
                <a:latin typeface="Open Sans"/>
              </a:rPr>
              <a:t>,</a:t>
            </a:r>
            <a:endParaRPr lang="en-US" sz="160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17F8419-1703-6A80-1C41-D02BB0C5FBD3}"/>
              </a:ext>
            </a:extLst>
          </p:cNvPr>
          <p:cNvSpPr/>
          <p:nvPr/>
        </p:nvSpPr>
        <p:spPr>
          <a:xfrm rot="19138691">
            <a:off x="5753225" y="4992223"/>
            <a:ext cx="336043" cy="31941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0CE8C9E-B5CD-E854-714E-B1B18BB9FBF0}"/>
              </a:ext>
            </a:extLst>
          </p:cNvPr>
          <p:cNvSpPr txBox="1">
            <a:spLocks/>
          </p:cNvSpPr>
          <p:nvPr/>
        </p:nvSpPr>
        <p:spPr>
          <a:xfrm>
            <a:off x="5401340" y="1576922"/>
            <a:ext cx="1609354" cy="78036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itchFamily="34" charset="0"/>
              <a:buNone/>
            </a:pPr>
            <a:r>
              <a:rPr lang="en-US" sz="1400" err="1"/>
              <a:t>kelompok</a:t>
            </a:r>
            <a:r>
              <a:rPr lang="en-US" sz="1400"/>
              <a:t> </a:t>
            </a:r>
            <a:r>
              <a:rPr lang="en-US" sz="1400" err="1"/>
              <a:t>tidak</a:t>
            </a:r>
            <a:r>
              <a:rPr lang="en-US" sz="1400"/>
              <a:t> </a:t>
            </a:r>
            <a:r>
              <a:rPr lang="en-US" sz="1400" err="1"/>
              <a:t>dianggap</a:t>
            </a:r>
            <a:r>
              <a:rPr lang="en-US" sz="1400"/>
              <a:t> valid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2C9A142-E3B6-4F49-F8DF-AF1A715BAC2C}"/>
              </a:ext>
            </a:extLst>
          </p:cNvPr>
          <p:cNvSpPr txBox="1">
            <a:spLocks/>
          </p:cNvSpPr>
          <p:nvPr/>
        </p:nvSpPr>
        <p:spPr>
          <a:xfrm>
            <a:off x="51475" y="3622197"/>
            <a:ext cx="1135322" cy="78036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itchFamily="34" charset="0"/>
              <a:buNone/>
            </a:pPr>
            <a:r>
              <a:rPr lang="en-US" sz="1400" err="1"/>
              <a:t>kelompok</a:t>
            </a:r>
            <a:r>
              <a:rPr lang="en-US" sz="1400"/>
              <a:t> </a:t>
            </a:r>
            <a:r>
              <a:rPr lang="en-US" sz="1400" err="1"/>
              <a:t>dibatalkan</a:t>
            </a:r>
            <a:endParaRPr lang="en-US" sz="1400"/>
          </a:p>
        </p:txBody>
      </p:sp>
      <p:pic>
        <p:nvPicPr>
          <p:cNvPr id="1026" name="Picture 2" descr="Hand drawn arrow doodle icon png on Transparent Background 14455894 PNG">
            <a:extLst>
              <a:ext uri="{FF2B5EF4-FFF2-40B4-BE49-F238E27FC236}">
                <a16:creationId xmlns:a16="http://schemas.microsoft.com/office/drawing/2014/main" id="{E07EDF4A-A660-CF36-FD19-6BFE1CA410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1" b="16666"/>
          <a:stretch/>
        </p:blipFill>
        <p:spPr bwMode="auto">
          <a:xfrm>
            <a:off x="5155654" y="1519064"/>
            <a:ext cx="509092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and drawn arrow doodle icon png on Transparent Background 14455894 PNG">
            <a:extLst>
              <a:ext uri="{FF2B5EF4-FFF2-40B4-BE49-F238E27FC236}">
                <a16:creationId xmlns:a16="http://schemas.microsoft.com/office/drawing/2014/main" id="{DA0CE388-D631-C40F-56E8-9037E93DD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1" b="16666"/>
          <a:stretch/>
        </p:blipFill>
        <p:spPr bwMode="auto">
          <a:xfrm rot="19491218" flipH="1">
            <a:off x="666978" y="3404853"/>
            <a:ext cx="588995" cy="26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and drawn arrow doodle icon png on Transparent Background 14455894 PNG">
            <a:extLst>
              <a:ext uri="{FF2B5EF4-FFF2-40B4-BE49-F238E27FC236}">
                <a16:creationId xmlns:a16="http://schemas.microsoft.com/office/drawing/2014/main" id="{869B215E-5A82-F67C-9246-FA2122587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1" b="16666"/>
          <a:stretch/>
        </p:blipFill>
        <p:spPr bwMode="auto">
          <a:xfrm rot="2424416" flipH="1" flipV="1">
            <a:off x="645186" y="4376973"/>
            <a:ext cx="588995" cy="3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623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94" y="1470733"/>
            <a:ext cx="7929665" cy="504589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Kelompok proyek </a:t>
            </a:r>
            <a:r>
              <a:rPr lang="en-US" sz="1600" b="1" dirty="0"/>
              <a:t>tidak dapat diubah dengan alasan apapun </a:t>
            </a:r>
            <a:r>
              <a:rPr lang="en-US" sz="1600" dirty="0"/>
              <a:t>(kecuali untuk kesalahan yang terjadi oleh sistem).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Hasil pembentukan kelompok yang </a:t>
            </a:r>
            <a:r>
              <a:rPr lang="en-US" sz="1600" b="1" dirty="0"/>
              <a:t>sudah final </a:t>
            </a:r>
            <a:r>
              <a:rPr lang="en-US" sz="1600" dirty="0"/>
              <a:t>dapat dilihat pada Binusmaya Practicum </a:t>
            </a:r>
            <a:r>
              <a:rPr lang="en-US" sz="1600" b="1" dirty="0"/>
              <a:t>setelah periode pembentukan kelompok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latin typeface="Open Sans"/>
              </a:rPr>
              <a:t>Apabila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hasil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tidak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sesuai</a:t>
            </a:r>
            <a:r>
              <a:rPr lang="en-US" sz="1600" dirty="0">
                <a:latin typeface="Open Sans"/>
              </a:rPr>
              <a:t>, </a:t>
            </a:r>
            <a:r>
              <a:rPr lang="en-US" sz="1600" dirty="0" err="1">
                <a:latin typeface="Open Sans"/>
              </a:rPr>
              <a:t>mahasiswa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dapat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melakukan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protes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pembentukan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kelompok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>
                <a:latin typeface="Open Sans"/>
              </a:rPr>
              <a:t>pada</a:t>
            </a:r>
            <a:r>
              <a:rPr lang="en-US" sz="1600" dirty="0"/>
              <a:t> </a:t>
            </a:r>
            <a:r>
              <a:rPr lang="en-US" sz="1600" b="1" dirty="0"/>
              <a:t>20 – 22 Oktober 2026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dengan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melaporkan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R. 724 (</a:t>
            </a:r>
            <a:r>
              <a:rPr lang="en-US" sz="1600" dirty="0" err="1"/>
              <a:t>Kemanggisan</a:t>
            </a:r>
            <a:r>
              <a:rPr lang="en-US" sz="1600" dirty="0"/>
              <a:t>) / R. A1308 (Alam Sutera) / R. BMCA0318 (Bekasi) </a:t>
            </a:r>
            <a:r>
              <a:rPr lang="en-US" sz="1600" dirty="0" err="1"/>
              <a:t>melalui</a:t>
            </a:r>
            <a:r>
              <a:rPr lang="en-US" sz="1600" dirty="0"/>
              <a:t> Formulir </a:t>
            </a:r>
            <a:r>
              <a:rPr lang="en-US" sz="1600" dirty="0" err="1"/>
              <a:t>Permohonan</a:t>
            </a:r>
            <a:r>
              <a:rPr lang="en-US" sz="1600" dirty="0"/>
              <a:t> </a:t>
            </a:r>
            <a:r>
              <a:rPr lang="en-US" sz="1600" dirty="0" err="1"/>
              <a:t>Kebijakan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 Onsite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b="1" dirty="0" err="1"/>
              <a:t>membawa</a:t>
            </a:r>
            <a:r>
              <a:rPr lang="en-US" sz="1600" b="1" dirty="0"/>
              <a:t> </a:t>
            </a:r>
            <a:r>
              <a:rPr lang="en-US" sz="1600" b="1" dirty="0" err="1"/>
              <a:t>bukti</a:t>
            </a:r>
            <a:r>
              <a:rPr lang="en-US" sz="1600" b="1" dirty="0"/>
              <a:t> </a:t>
            </a:r>
            <a:r>
              <a:rPr lang="en-US" sz="1600" b="1" i="1" dirty="0"/>
              <a:t>screenshot</a:t>
            </a:r>
            <a:r>
              <a:rPr lang="en-US" sz="1600" b="1" dirty="0"/>
              <a:t> email </a:t>
            </a:r>
            <a:r>
              <a:rPr lang="en-US" sz="1600" b="1" dirty="0" err="1"/>
              <a:t>konfirmasi</a:t>
            </a:r>
            <a:r>
              <a:rPr lang="en-US" sz="1600" b="1" dirty="0"/>
              <a:t> </a:t>
            </a:r>
            <a:r>
              <a:rPr lang="en-US" sz="1600" dirty="0" err="1"/>
              <a:t>kelompok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terbentuk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Open Sans"/>
              </a:rPr>
              <a:t>Prote</a:t>
            </a:r>
            <a:r>
              <a:rPr lang="en-US" sz="1600" dirty="0"/>
              <a:t>s </a:t>
            </a:r>
            <a:r>
              <a:rPr lang="en-US" sz="1600" b="1" dirty="0"/>
              <a:t>tidak akan diterima </a:t>
            </a:r>
            <a:r>
              <a:rPr lang="en-US" sz="1600" dirty="0"/>
              <a:t>jika </a:t>
            </a:r>
            <a:r>
              <a:rPr lang="en-US" sz="1600" b="1" dirty="0"/>
              <a:t>tidak ada bukti </a:t>
            </a:r>
            <a:r>
              <a:rPr lang="en-US" sz="1600" i="1" dirty="0"/>
              <a:t>screenshot</a:t>
            </a:r>
            <a:r>
              <a:rPr lang="en-US" sz="1600" dirty="0"/>
              <a:t> email konfirmasi kelompok proyek sudah terbentuk.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Open Sans"/>
              </a:rPr>
              <a:t>Protes yang dilakukan setelah masa protes kelompok proyek </a:t>
            </a:r>
            <a:r>
              <a:rPr lang="en-US" sz="1600" b="1" dirty="0">
                <a:latin typeface="Open Sans"/>
              </a:rPr>
              <a:t>tidak dapat diproses </a:t>
            </a:r>
            <a:r>
              <a:rPr lang="en-US" sz="1600" dirty="0">
                <a:latin typeface="Open Sans"/>
              </a:rPr>
              <a:t>dengan alasan apapun.</a:t>
            </a:r>
            <a:endParaRPr lang="en-US" sz="1600" dirty="0">
              <a:latin typeface="Open Sans"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 dirty="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Pembentukan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521243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individu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Soal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sejak</a:t>
            </a:r>
            <a:r>
              <a:rPr lang="en-US" sz="1600"/>
              <a:t> </a:t>
            </a:r>
            <a:r>
              <a:rPr lang="en-US" sz="1600" b="1" err="1"/>
              <a:t>pertemuan</a:t>
            </a: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[</a:t>
            </a:r>
            <a:r>
              <a:rPr lang="en-US" sz="1600" b="1" err="1">
                <a:highlight>
                  <a:srgbClr val="FFFF00"/>
                </a:highlight>
              </a:rPr>
              <a:t>diisi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sesuai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mata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kuliah</a:t>
            </a:r>
            <a:r>
              <a:rPr lang="en-US" sz="1600" b="1">
                <a:highlight>
                  <a:srgbClr val="FFFF00"/>
                </a:highlight>
              </a:rPr>
              <a:t>]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</a:t>
            </a:r>
            <a:r>
              <a:rPr lang="en-US" sz="1600" err="1"/>
              <a:t>terkait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/>
              <a:t>Bluejack Practicum</a:t>
            </a:r>
            <a:r>
              <a:rPr lang="en-US" sz="1600"/>
              <a:t> (</a:t>
            </a:r>
            <a:r>
              <a:rPr lang="en-US" sz="1600">
                <a:hlinkClick r:id="rId2"/>
              </a:rPr>
              <a:t>https://bluejack.binus.ac.id/prk/</a:t>
            </a:r>
            <a:r>
              <a:rPr lang="en-US" sz="1600"/>
              <a:t>)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dikerjakan</a:t>
            </a:r>
            <a:r>
              <a:rPr lang="en-US" sz="1600"/>
              <a:t> dan </a:t>
            </a:r>
            <a:r>
              <a:rPr lang="en-US" sz="1600" b="1" err="1"/>
              <a:t>dikumpulkan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i="1"/>
              <a:t>online</a:t>
            </a:r>
            <a:r>
              <a:rPr lang="en-US" sz="1600" b="1"/>
              <a:t> </a:t>
            </a:r>
            <a:r>
              <a:rPr lang="en-US" sz="1600" err="1"/>
              <a:t>hingga</a:t>
            </a:r>
            <a:r>
              <a:rPr lang="en-US" sz="1600"/>
              <a:t> </a:t>
            </a:r>
            <a:r>
              <a:rPr lang="en-US" sz="1600" b="1" err="1"/>
              <a:t>pertemuan</a:t>
            </a:r>
            <a:r>
              <a:rPr lang="en-US" sz="1600" b="1"/>
              <a:t> </a:t>
            </a:r>
            <a:r>
              <a:rPr lang="en-US" sz="1600" b="1">
                <a:highlight>
                  <a:srgbClr val="FFFF00"/>
                </a:highlight>
              </a:rPr>
              <a:t>[</a:t>
            </a:r>
            <a:r>
              <a:rPr lang="en-US" sz="1600" b="1" err="1">
                <a:highlight>
                  <a:srgbClr val="FFFF00"/>
                </a:highlight>
              </a:rPr>
              <a:t>diisi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sesuai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mata</a:t>
            </a:r>
            <a:r>
              <a:rPr lang="en-US" sz="1600" b="1">
                <a:highlight>
                  <a:srgbClr val="FFFF00"/>
                </a:highlight>
              </a:rPr>
              <a:t> </a:t>
            </a:r>
            <a:r>
              <a:rPr lang="en-US" sz="1600" b="1" err="1">
                <a:highlight>
                  <a:srgbClr val="FFFF00"/>
                </a:highlight>
              </a:rPr>
              <a:t>kuliah</a:t>
            </a:r>
            <a:r>
              <a:rPr lang="en-US" sz="1600" b="1">
                <a:highlight>
                  <a:srgbClr val="FFFF00"/>
                </a:highlight>
              </a:rPr>
              <a:t>]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.</a:t>
            </a:r>
          </a:p>
          <a:p>
            <a:pPr fontAlgn="base">
              <a:lnSpc>
                <a:spcPct val="150000"/>
              </a:lnSpc>
            </a:pPr>
            <a:r>
              <a:rPr lang="en-US" sz="1600" err="1"/>
              <a:t>Pengumpulan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akan</a:t>
            </a:r>
            <a:r>
              <a:rPr lang="en-US" sz="1600" b="1"/>
              <a:t> </a:t>
            </a:r>
            <a:r>
              <a:rPr lang="en-US" sz="1600" b="1" err="1"/>
              <a:t>diterima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(</a:t>
            </a:r>
            <a:r>
              <a:rPr lang="en-US" sz="1600" b="1" err="1"/>
              <a:t>nilai</a:t>
            </a:r>
            <a:r>
              <a:rPr lang="en-US" sz="1600" b="1"/>
              <a:t> 0</a:t>
            </a:r>
            <a:r>
              <a:rPr lang="en-US" sz="1600"/>
              <a:t>).​</a:t>
            </a:r>
          </a:p>
          <a:p>
            <a:pPr fontAlgn="base">
              <a:lnSpc>
                <a:spcPct val="150000"/>
              </a:lnSpc>
            </a:pPr>
            <a:r>
              <a:rPr lang="en-US" sz="1600" err="1"/>
              <a:t>Masalah</a:t>
            </a:r>
            <a:r>
              <a:rPr lang="en-US" sz="1600"/>
              <a:t> pada </a:t>
            </a:r>
            <a:r>
              <a:rPr lang="en-US" sz="1600" b="1" err="1"/>
              <a:t>pengumpulan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jam dan </a:t>
            </a:r>
            <a:r>
              <a:rPr lang="en-US" sz="1600" b="1" err="1"/>
              <a:t>tempat</a:t>
            </a:r>
            <a:r>
              <a:rPr lang="en-US" sz="1600" b="1"/>
              <a:t> yang </a:t>
            </a:r>
            <a:r>
              <a:rPr lang="en-US" sz="1600" b="1" err="1"/>
              <a:t>dijadwalkan</a:t>
            </a:r>
            <a:r>
              <a:rPr lang="en-US" sz="1600" b="1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err="1"/>
              <a:t>tanggung</a:t>
            </a:r>
            <a:r>
              <a:rPr lang="en-US" sz="1600" b="1"/>
              <a:t> 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err="1"/>
              <a:t>sepenuhnya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04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947" y="1498431"/>
            <a:ext cx="7696201" cy="386113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Pengumpulan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dapat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online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sepanjang</a:t>
            </a:r>
            <a:r>
              <a:rPr lang="en-US" sz="1600"/>
              <a:t> semester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b="1" err="1"/>
              <a:t>sebelum</a:t>
            </a:r>
            <a:r>
              <a:rPr lang="en-US" sz="1600" b="1"/>
              <a:t> batas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proyek</a:t>
            </a:r>
            <a:r>
              <a:rPr lang="en-US" sz="1600" b="1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berhasil</a:t>
            </a:r>
            <a:r>
              <a:rPr lang="en-US" sz="1600" b="1"/>
              <a:t> </a:t>
            </a:r>
            <a:r>
              <a:rPr lang="en-US" sz="1600" b="1" err="1"/>
              <a:t>dibuat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Pengumpulan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proyek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setelah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waktu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ditetapkan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tidak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akan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diterima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dan </a:t>
            </a:r>
            <a:r>
              <a:rPr lang="en-US" sz="1600" err="1">
                <a:latin typeface="Open Sans"/>
              </a:rPr>
              <a:t>dianggap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tidak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mengumpulkan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proyek</a:t>
            </a:r>
            <a:r>
              <a:rPr lang="en-US" sz="1600">
                <a:latin typeface="Open Sans"/>
              </a:rPr>
              <a:t> (</a:t>
            </a:r>
            <a:r>
              <a:rPr lang="en-US" sz="1600" b="1" err="1">
                <a:latin typeface="Open Sans"/>
              </a:rPr>
              <a:t>nilai</a:t>
            </a:r>
            <a:r>
              <a:rPr lang="en-US" sz="1600" b="1">
                <a:latin typeface="Open Sans"/>
              </a:rPr>
              <a:t> 0</a:t>
            </a:r>
            <a:r>
              <a:rPr lang="en-US" sz="1600">
                <a:latin typeface="Open Sans"/>
              </a:rPr>
              <a:t>).</a:t>
            </a:r>
            <a:endParaRPr lang="en-US" sz="1600">
              <a:latin typeface="Open Sans"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Mahasiswa</a:t>
            </a:r>
            <a:r>
              <a:rPr lang="en-US" sz="1600">
                <a:latin typeface="Open Sans"/>
              </a:rPr>
              <a:t> yang </a:t>
            </a:r>
            <a:r>
              <a:rPr lang="en-US" sz="1600" b="1" err="1">
                <a:latin typeface="Open Sans"/>
              </a:rPr>
              <a:t>tidak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hadir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pada </a:t>
            </a:r>
            <a:r>
              <a:rPr lang="en-US" sz="1600" err="1">
                <a:latin typeface="Open Sans"/>
              </a:rPr>
              <a:t>pertemuan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pengumpulan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proyek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akan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dianggap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a</a:t>
            </a:r>
            <a:r>
              <a:rPr lang="en-US" sz="1600" b="1" err="1"/>
              <a:t>lpa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peraturan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Masalah</a:t>
            </a:r>
            <a:r>
              <a:rPr lang="en-US" sz="1600">
                <a:latin typeface="Open Sans"/>
              </a:rPr>
              <a:t> pada </a:t>
            </a:r>
            <a:r>
              <a:rPr lang="en-US" sz="1600" b="1" err="1">
                <a:latin typeface="Open Sans"/>
              </a:rPr>
              <a:t>pengumpulan</a:t>
            </a:r>
            <a:r>
              <a:rPr lang="en-US" sz="1600" b="1">
                <a:latin typeface="Open Sans"/>
              </a:rPr>
              <a:t> di </a:t>
            </a:r>
            <a:r>
              <a:rPr lang="en-US" sz="1600" b="1" err="1">
                <a:latin typeface="Open Sans"/>
              </a:rPr>
              <a:t>luar</a:t>
            </a:r>
            <a:r>
              <a:rPr lang="en-US" sz="1600" b="1">
                <a:latin typeface="Open Sans"/>
              </a:rPr>
              <a:t> jam dan </a:t>
            </a:r>
            <a:r>
              <a:rPr lang="en-US" sz="1600" b="1" err="1">
                <a:latin typeface="Open Sans"/>
              </a:rPr>
              <a:t>tempat</a:t>
            </a:r>
            <a:r>
              <a:rPr lang="en-US" sz="1600" b="1">
                <a:latin typeface="Open Sans"/>
              </a:rPr>
              <a:t> yang </a:t>
            </a:r>
            <a:r>
              <a:rPr lang="en-US" sz="1600" b="1" err="1">
                <a:latin typeface="Open Sans"/>
              </a:rPr>
              <a:t>dijadwalkan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adalah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tanggung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jawab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mahasiswa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sepenuhnya</a:t>
            </a:r>
            <a:r>
              <a:rPr lang="en-US" sz="1600">
                <a:latin typeface="Open Sans"/>
              </a:rPr>
              <a:t>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487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4623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>
                <a:latin typeface="Open Sans"/>
              </a:rPr>
              <a:t>Kriteria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proyek</a:t>
            </a:r>
            <a:r>
              <a:rPr lang="en-US" sz="1600" b="1">
                <a:latin typeface="Open Sans"/>
              </a:rPr>
              <a:t>/</a:t>
            </a:r>
            <a:r>
              <a:rPr lang="en-US" sz="1600" b="1" err="1">
                <a:latin typeface="Open Sans"/>
              </a:rPr>
              <a:t>kuis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bawa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pulang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terdapat</a:t>
            </a:r>
            <a:r>
              <a:rPr lang="en-US" sz="1600">
                <a:latin typeface="Open Sans"/>
              </a:rPr>
              <a:t> pada </a:t>
            </a:r>
            <a:r>
              <a:rPr lang="en-US" sz="1600" b="1" err="1">
                <a:latin typeface="Open Sans"/>
              </a:rPr>
              <a:t>soal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dan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diberikan</a:t>
            </a:r>
            <a:r>
              <a:rPr lang="en-US" sz="1600">
                <a:latin typeface="Open Sans"/>
              </a:rPr>
              <a:t> juga oleh </a:t>
            </a:r>
            <a:r>
              <a:rPr lang="en-US" sz="1600" err="1">
                <a:latin typeface="Open Sans"/>
              </a:rPr>
              <a:t>pengajar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dalam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bentuk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softcopy</a:t>
            </a:r>
            <a:r>
              <a:rPr lang="en-US" sz="1600">
                <a:latin typeface="Open Sans"/>
              </a:rPr>
              <a:t> pada </a:t>
            </a:r>
            <a:r>
              <a:rPr lang="en-US" sz="1600" err="1">
                <a:latin typeface="Open Sans"/>
              </a:rPr>
              <a:t>pertemuan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pertama</a:t>
            </a:r>
            <a:r>
              <a:rPr lang="en-US" sz="1600">
                <a:latin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anggota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/>
              <a:t>, </a:t>
            </a:r>
            <a:r>
              <a:rPr lang="en-US" sz="1600" err="1"/>
              <a:t>kecuali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b="1" err="1"/>
              <a:t>melewati</a:t>
            </a:r>
            <a:r>
              <a:rPr lang="en-US" sz="1600" b="1"/>
              <a:t> </a:t>
            </a:r>
            <a:r>
              <a:rPr lang="en-US" sz="1600" b="1" err="1"/>
              <a:t>batas</a:t>
            </a:r>
            <a:r>
              <a:rPr lang="en-US" sz="1600" b="1"/>
              <a:t> </a:t>
            </a:r>
            <a:r>
              <a:rPr lang="en-US" sz="1600" b="1" err="1"/>
              <a:t>ketidakhadiran</a:t>
            </a:r>
            <a:r>
              <a:rPr lang="en-US" sz="1600" b="1"/>
              <a:t> </a:t>
            </a:r>
            <a:r>
              <a:rPr lang="en-US" sz="1600" err="1"/>
              <a:t>teori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Jika </a:t>
            </a:r>
            <a:r>
              <a:rPr lang="en-US" sz="1600" b="1" err="1">
                <a:latin typeface="Open Sans"/>
              </a:rPr>
              <a:t>ukuran</a:t>
            </a:r>
            <a:r>
              <a:rPr lang="en-US" sz="1600" b="1">
                <a:latin typeface="Open Sans"/>
              </a:rPr>
              <a:t> file </a:t>
            </a:r>
            <a:r>
              <a:rPr lang="en-US" sz="1600" b="1" err="1">
                <a:latin typeface="Open Sans"/>
              </a:rPr>
              <a:t>lebih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dari</a:t>
            </a:r>
            <a:r>
              <a:rPr lang="en-US" sz="1600" b="1">
                <a:latin typeface="Open Sans"/>
              </a:rPr>
              <a:t> yang </a:t>
            </a:r>
            <a:r>
              <a:rPr lang="en-US" sz="1600" b="1" err="1">
                <a:latin typeface="Open Sans"/>
              </a:rPr>
              <a:t>ditentukan</a:t>
            </a:r>
            <a:r>
              <a:rPr lang="en-US" sz="1600" b="1">
                <a:latin typeface="Open Sans"/>
              </a:rPr>
              <a:t> </a:t>
            </a:r>
            <a:r>
              <a:rPr lang="en-US" sz="1600">
                <a:latin typeface="Open Sans"/>
              </a:rPr>
              <a:t>(</a:t>
            </a:r>
            <a:r>
              <a:rPr lang="en-US" sz="1600" err="1">
                <a:latin typeface="Open Sans"/>
              </a:rPr>
              <a:t>ukuran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sebelum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file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dikompres</a:t>
            </a:r>
            <a:r>
              <a:rPr lang="en-US" sz="1600"/>
              <a:t>),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 err="1"/>
              <a:t>dipotong</a:t>
            </a:r>
            <a:r>
              <a:rPr lang="en-US" sz="1600" b="1"/>
              <a:t> 20%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didapat</a:t>
            </a:r>
            <a:r>
              <a:rPr lang="en-US" sz="1600"/>
              <a:t>. </a:t>
            </a:r>
            <a:r>
              <a:rPr lang="en-US" sz="1600" b="1" err="1">
                <a:latin typeface="Open Sans"/>
              </a:rPr>
              <a:t>Maksimum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ukuran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i="1">
                <a:latin typeface="Open Sans"/>
              </a:rPr>
              <a:t>file yang </a:t>
            </a:r>
            <a:r>
              <a:rPr lang="en-US" sz="1600" b="1" i="1" err="1">
                <a:latin typeface="Open Sans"/>
              </a:rPr>
              <a:t>dikumpulkan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dapat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dicek</a:t>
            </a:r>
            <a:r>
              <a:rPr lang="en-US" sz="1600">
                <a:latin typeface="Open Sans"/>
              </a:rPr>
              <a:t> pada </a:t>
            </a:r>
            <a:r>
              <a:rPr lang="en-US" sz="1600" err="1">
                <a:latin typeface="Open Sans"/>
              </a:rPr>
              <a:t>Buku</a:t>
            </a:r>
            <a:r>
              <a:rPr lang="en-US" sz="1600">
                <a:latin typeface="Open Sans"/>
              </a:rPr>
              <a:t> Panduan </a:t>
            </a:r>
            <a:r>
              <a:rPr lang="en-US" sz="1600" err="1">
                <a:latin typeface="Open Sans"/>
              </a:rPr>
              <a:t>Akademik</a:t>
            </a:r>
            <a:r>
              <a:rPr lang="en-US" sz="1600">
                <a:latin typeface="Open Sans"/>
              </a:rPr>
              <a:t> Software Laboratory Center dan Laboratory Center </a:t>
            </a:r>
            <a:r>
              <a:rPr lang="en-US" sz="1600" err="1">
                <a:latin typeface="Open Sans"/>
              </a:rPr>
              <a:t>bagian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Sistem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(Academic Book).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41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7A4A1-6D00-8CEC-36E9-EA2BF52E184C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41802"/>
            <a:ext cx="7696201" cy="316359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latin typeface="Open Sans"/>
              </a:rPr>
              <a:t>Apabila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software</a:t>
            </a:r>
            <a:r>
              <a:rPr lang="en-US" sz="1600"/>
              <a:t>/</a:t>
            </a:r>
            <a:r>
              <a:rPr lang="en-US" sz="1600" err="1">
                <a:latin typeface="Open Sans"/>
              </a:rPr>
              <a:t>versi</a:t>
            </a:r>
            <a:r>
              <a:rPr lang="en-US" sz="1600">
                <a:latin typeface="Open Sans"/>
              </a:rPr>
              <a:t> </a:t>
            </a:r>
            <a:r>
              <a:rPr lang="en-US" sz="1600" i="1">
                <a:latin typeface="Open Sans"/>
              </a:rPr>
              <a:t>software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berbeda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dengan</a:t>
            </a:r>
            <a:r>
              <a:rPr lang="en-US" sz="1600">
                <a:latin typeface="Open Sans"/>
              </a:rPr>
              <a:t> yang </a:t>
            </a:r>
            <a:r>
              <a:rPr lang="en-US" sz="1600" err="1">
                <a:latin typeface="Open Sans"/>
              </a:rPr>
              <a:t>ditetapkan</a:t>
            </a:r>
            <a:r>
              <a:rPr lang="en-US" sz="1600">
                <a:latin typeface="Open Sans"/>
              </a:rPr>
              <a:t>, </a:t>
            </a:r>
            <a:r>
              <a:rPr lang="en-US" sz="1600" err="1">
                <a:latin typeface="Open Sans"/>
              </a:rPr>
              <a:t>proyek</a:t>
            </a:r>
            <a:r>
              <a:rPr lang="en-US" sz="1600"/>
              <a:t>/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>
                <a:latin typeface="Open Sans"/>
              </a:rPr>
              <a:t>tetap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dikoreksi</a:t>
            </a:r>
            <a:r>
              <a:rPr lang="en-US" sz="1600">
                <a:latin typeface="Open Sans"/>
              </a:rPr>
              <a:t>. Segala yang </a:t>
            </a:r>
            <a:r>
              <a:rPr lang="en-US" sz="1600" err="1">
                <a:latin typeface="Open Sans"/>
              </a:rPr>
              <a:t>timbul</a:t>
            </a:r>
            <a:r>
              <a:rPr lang="en-US" sz="1600">
                <a:latin typeface="Open Sans"/>
              </a:rPr>
              <a:t> (</a:t>
            </a:r>
            <a:r>
              <a:rPr lang="en-US" sz="1600" err="1">
                <a:latin typeface="Open Sans"/>
              </a:rPr>
              <a:t>seperti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fitur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tidak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berfungsi</a:t>
            </a:r>
            <a:r>
              <a:rPr lang="en-US" sz="1600">
                <a:latin typeface="Open Sans"/>
              </a:rPr>
              <a:t>) yang </a:t>
            </a:r>
            <a:r>
              <a:rPr lang="en-US" sz="1600" err="1">
                <a:latin typeface="Open Sans"/>
              </a:rPr>
              <a:t>menyebabkan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kehilangan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sebagian</a:t>
            </a:r>
            <a:r>
              <a:rPr lang="en-US" sz="1600" b="1">
                <a:latin typeface="Open Sans"/>
              </a:rPr>
              <a:t>/</a:t>
            </a:r>
            <a:r>
              <a:rPr lang="en-US" sz="1600" b="1" err="1">
                <a:latin typeface="Open Sans"/>
              </a:rPr>
              <a:t>seluruh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menjadi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tanggung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jawab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mahasiswa</a:t>
            </a:r>
            <a:r>
              <a:rPr lang="en-US" sz="1600">
                <a:latin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bawa</a:t>
            </a:r>
            <a:r>
              <a:rPr lang="en-US" sz="1600"/>
              <a:t> </a:t>
            </a:r>
            <a:r>
              <a:rPr lang="en-US" sz="1600" err="1"/>
              <a:t>pulang</a:t>
            </a:r>
            <a:r>
              <a:rPr lang="en-US" sz="1600"/>
              <a:t> </a:t>
            </a:r>
            <a:r>
              <a:rPr lang="en-US" sz="1600" err="1"/>
              <a:t>harus</a:t>
            </a:r>
            <a:r>
              <a:rPr lang="en-US" sz="1600"/>
              <a:t> </a:t>
            </a:r>
            <a:r>
              <a:rPr lang="en-US" sz="1600" err="1"/>
              <a:t>memastikan</a:t>
            </a:r>
            <a:r>
              <a:rPr lang="en-US" sz="1600"/>
              <a:t>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menerima</a:t>
            </a:r>
            <a:r>
              <a:rPr lang="en-US" sz="1600"/>
              <a:t> </a:t>
            </a:r>
            <a:r>
              <a:rPr lang="en-US" sz="1600" err="1"/>
              <a:t>bukti</a:t>
            </a:r>
            <a:r>
              <a:rPr lang="en-US" sz="1600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berupa</a:t>
            </a:r>
            <a:r>
              <a:rPr lang="en-US" sz="1600" b="1"/>
              <a:t> </a:t>
            </a:r>
            <a:r>
              <a:rPr lang="en-US" sz="1600" b="1" err="1"/>
              <a:t>kode</a:t>
            </a:r>
            <a:r>
              <a:rPr lang="en-US" sz="1600" b="1"/>
              <a:t> pada </a:t>
            </a:r>
            <a:r>
              <a:rPr lang="en-US" sz="1600" b="1" err="1"/>
              <a:t>Binusmaya</a:t>
            </a:r>
            <a:r>
              <a:rPr lang="en-US" sz="1600" b="1"/>
              <a:t> Practicum</a:t>
            </a:r>
            <a:r>
              <a:rPr lang="en-US" sz="1600"/>
              <a:t>. Jika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menerima</a:t>
            </a:r>
            <a:r>
              <a:rPr lang="en-US" sz="1600"/>
              <a:t> </a:t>
            </a:r>
            <a:r>
              <a:rPr lang="en-US" sz="1600" err="1"/>
              <a:t>kode</a:t>
            </a:r>
            <a:r>
              <a:rPr lang="en-US" sz="1600"/>
              <a:t>,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diperbolehkan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perbedaan</a:t>
            </a:r>
            <a:r>
              <a:rPr lang="en-US" sz="1600"/>
              <a:t> file yang </a:t>
            </a:r>
            <a:r>
              <a:rPr lang="en-US" sz="1600" err="1"/>
              <a:t>dikumpul</a:t>
            </a:r>
            <a:r>
              <a:rPr lang="en-US" sz="1600"/>
              <a:t> (nama file, size, date, time).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159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1FBEEE-32CB-4930-F132-4E24BF16A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72150"/>
              </p:ext>
            </p:extLst>
          </p:nvPr>
        </p:nvGraphicFramePr>
        <p:xfrm>
          <a:off x="1066798" y="1600200"/>
          <a:ext cx="7696202" cy="324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8101">
                  <a:extLst>
                    <a:ext uri="{9D8B030D-6E8A-4147-A177-3AD203B41FA5}">
                      <a16:colId xmlns:a16="http://schemas.microsoft.com/office/drawing/2014/main" val="1507140336"/>
                    </a:ext>
                  </a:extLst>
                </a:gridCol>
                <a:gridCol w="3848101">
                  <a:extLst>
                    <a:ext uri="{9D8B030D-6E8A-4147-A177-3AD203B41FA5}">
                      <a16:colId xmlns:a16="http://schemas.microsoft.com/office/drawing/2014/main" val="2302630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Jenis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Pelanggaran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Sanksi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3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Pengumpulan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diwakilkan</a:t>
                      </a:r>
                      <a:r>
                        <a:rPr lang="en-US" sz="1400"/>
                        <a:t> oleh </a:t>
                      </a:r>
                      <a:r>
                        <a:rPr lang="en-US" sz="1400" err="1"/>
                        <a:t>mahasiswa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kelompok</a:t>
                      </a:r>
                      <a:r>
                        <a:rPr lang="en-US" sz="1400"/>
                        <a:t> lain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8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Pengerjaan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tidak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sesuai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dengan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tema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soal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yang </a:t>
                      </a:r>
                      <a:r>
                        <a:rPr lang="en-US" sz="1400" err="1"/>
                        <a:t>ditentukan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279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Menyontek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disontek</a:t>
                      </a:r>
                      <a:r>
                        <a:rPr lang="en-US" sz="1400"/>
                        <a:t>* (</a:t>
                      </a:r>
                      <a:r>
                        <a:rPr lang="en-US" sz="1400" err="1"/>
                        <a:t>secara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sadar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sengaja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praktikum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20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Mengunduh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merupakan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bagian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dari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penilaian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materi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kriteria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**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0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Membeli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menyuruh</a:t>
                      </a:r>
                      <a:r>
                        <a:rPr lang="en-US" sz="1400"/>
                        <a:t> orang lain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dibuatkan</a:t>
                      </a:r>
                      <a:r>
                        <a:rPr lang="en-US" sz="1400"/>
                        <a:t>: Mata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digugurkan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</a:p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: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9924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733C00-F2D7-D3C0-B7C4-19A7A43D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9" y="4973042"/>
            <a:ext cx="7759701" cy="11785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/>
              <a:t>*) </a:t>
            </a:r>
            <a:r>
              <a:rPr lang="en-US" sz="1400" err="1"/>
              <a:t>Mencakup</a:t>
            </a:r>
            <a:r>
              <a:rPr lang="en-US" sz="1400"/>
              <a:t> </a:t>
            </a:r>
            <a:r>
              <a:rPr lang="en-US" sz="1400" err="1"/>
              <a:t>sebagian</a:t>
            </a:r>
            <a:r>
              <a:rPr lang="en-US" sz="1400"/>
              <a:t>/</a:t>
            </a:r>
            <a:r>
              <a:rPr lang="en-US" sz="1400" err="1"/>
              <a:t>seluruhnya</a:t>
            </a:r>
            <a:r>
              <a:rPr lang="en-US" sz="1400"/>
              <a:t> </a:t>
            </a:r>
            <a:r>
              <a:rPr lang="en-US" sz="1400" err="1"/>
              <a:t>dari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/</a:t>
            </a:r>
            <a:r>
              <a:rPr lang="en-US" sz="1400" err="1"/>
              <a:t>kelompok</a:t>
            </a:r>
            <a:r>
              <a:rPr lang="en-US" sz="1400"/>
              <a:t> lain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>
                <a:latin typeface="Open Sans"/>
              </a:rPr>
              <a:t>**)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/link </a:t>
            </a:r>
            <a:r>
              <a:rPr lang="en-US" sz="1400" err="1">
                <a:latin typeface="Open Sans"/>
              </a:rPr>
              <a:t>mencakup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sebagian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seluruhnya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karya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kelompok</a:t>
            </a:r>
            <a:r>
              <a:rPr lang="en-US" sz="1400">
                <a:latin typeface="Open Sans"/>
              </a:rPr>
              <a:t> lain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ajar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,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umum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seperti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buku</a:t>
            </a:r>
            <a:r>
              <a:rPr lang="en-US" sz="1400">
                <a:latin typeface="Open Sans"/>
              </a:rPr>
              <a:t> dan internet.</a:t>
            </a:r>
          </a:p>
        </p:txBody>
      </p:sp>
    </p:spTree>
    <p:extLst>
      <p:ext uri="{BB962C8B-B14F-4D97-AF65-F5344CB8AC3E}">
        <p14:creationId xmlns:p14="http://schemas.microsoft.com/office/powerpoint/2010/main" val="3722847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Kuis</a:t>
            </a:r>
            <a:r>
              <a:rPr lang="en-US"/>
              <a:t> </a:t>
            </a:r>
            <a:r>
              <a:rPr lang="en-US" err="1"/>
              <a:t>Terjadwal</a:t>
            </a:r>
            <a:r>
              <a:rPr lang="en-US"/>
              <a:t> dan </a:t>
            </a:r>
            <a:r>
              <a:rPr lang="en-US" err="1"/>
              <a:t>Ujian</a:t>
            </a:r>
            <a:r>
              <a:rPr lang="en-US"/>
              <a:t> Akhir </a:t>
            </a:r>
            <a:r>
              <a:rPr lang="en-US" err="1"/>
              <a:t>Praktikum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1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Detail</a:t>
            </a:r>
            <a:r>
              <a:rPr lang="id-ID" sz="1600" dirty="0">
                <a:ea typeface="Open Sans"/>
                <a:cs typeface="Open Sans"/>
              </a:rPr>
              <a:t> prosedur dan tata tertib pelaksanaan akan dijelaskan pada </a:t>
            </a:r>
            <a:r>
              <a:rPr lang="id-ID" sz="1600" b="1" dirty="0">
                <a:ea typeface="Open Sans"/>
                <a:cs typeface="Open Sans"/>
              </a:rPr>
              <a:t>pertemuan sebelum pelaksanaan TM</a:t>
            </a:r>
            <a:r>
              <a:rPr lang="en-US" sz="1600" b="1" dirty="0">
                <a:ea typeface="Open Sans"/>
                <a:cs typeface="Open Sans"/>
              </a:rPr>
              <a:t> dan 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pelaksanaan</a:t>
            </a:r>
            <a:r>
              <a:rPr lang="en-US" sz="1600" b="1" dirty="0">
                <a:ea typeface="Open Sans"/>
                <a:cs typeface="Open Sans"/>
              </a:rPr>
              <a:t> UAP</a:t>
            </a:r>
            <a:r>
              <a:rPr lang="id-ID" sz="1600" dirty="0">
                <a:ea typeface="Open Sans"/>
                <a:cs typeface="Open Sans"/>
              </a:rPr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Pelaksanaan</a:t>
            </a:r>
            <a:r>
              <a:rPr lang="en-US" sz="1600" dirty="0">
                <a:ea typeface="Open Sans"/>
                <a:cs typeface="Open Sans"/>
              </a:rPr>
              <a:t> TM, UAP, dan </a:t>
            </a:r>
            <a:r>
              <a:rPr lang="en-US" sz="1600" dirty="0" err="1">
                <a:ea typeface="Open Sans"/>
                <a:cs typeface="Open Sans"/>
              </a:rPr>
              <a:t>susulan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berjalan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mode </a:t>
            </a:r>
            <a:r>
              <a:rPr lang="en-US" sz="1600" dirty="0" err="1">
                <a:ea typeface="Open Sans"/>
                <a:cs typeface="Open Sans"/>
              </a:rPr>
              <a:t>perkuliahan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berlaku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b="1" dirty="0">
                <a:solidFill>
                  <a:srgbClr val="C00000"/>
                </a:solidFill>
              </a:rPr>
              <a:t>TIDAK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diperkenankan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untuk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mengikuti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kelas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secara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i="1" dirty="0">
                <a:solidFill>
                  <a:srgbClr val="C00000"/>
                </a:solidFill>
              </a:rPr>
              <a:t>online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untuk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pertemuan</a:t>
            </a:r>
            <a:r>
              <a:rPr lang="en-US" sz="1600" dirty="0">
                <a:solidFill>
                  <a:srgbClr val="C00000"/>
                </a:solidFill>
              </a:rPr>
              <a:t> yang </a:t>
            </a:r>
            <a:r>
              <a:rPr lang="en-US" sz="1600" dirty="0" err="1">
                <a:solidFill>
                  <a:srgbClr val="C00000"/>
                </a:solidFill>
              </a:rPr>
              <a:t>terlaksana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i="1" dirty="0">
                <a:solidFill>
                  <a:srgbClr val="C00000"/>
                </a:solidFill>
              </a:rPr>
              <a:t>onsite</a:t>
            </a:r>
            <a:r>
              <a:rPr lang="en-US" sz="1600" dirty="0"/>
              <a:t>.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id-ID" sz="1600" dirty="0">
                <a:ea typeface="Open Sans"/>
                <a:cs typeface="Open Sans"/>
              </a:rPr>
              <a:t>Pelaksanaan UAP  mulai tanggal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>
                <a:ea typeface="Open Sans"/>
                <a:cs typeface="Open Sans"/>
              </a:rPr>
              <a:t>10 - 23 </a:t>
            </a:r>
            <a:r>
              <a:rPr lang="en-US" sz="1600" b="1" dirty="0" err="1">
                <a:ea typeface="Open Sans"/>
                <a:cs typeface="Open Sans"/>
              </a:rPr>
              <a:t>Desember</a:t>
            </a:r>
            <a:r>
              <a:rPr lang="en-US" sz="1600" b="1" dirty="0">
                <a:ea typeface="Open Sans"/>
                <a:cs typeface="Open Sans"/>
              </a:rPr>
              <a:t> 2026</a:t>
            </a:r>
          </a:p>
          <a:p>
            <a:pPr algn="just">
              <a:lnSpc>
                <a:spcPct val="150000"/>
              </a:lnSpc>
            </a:pP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UAP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61C1D23-1B19-74C3-0E7F-CE73F778E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970810"/>
              </p:ext>
            </p:extLst>
          </p:nvPr>
        </p:nvGraphicFramePr>
        <p:xfrm>
          <a:off x="1409699" y="4010800"/>
          <a:ext cx="7010400" cy="2277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0836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81A7-0B64-EBA1-59D1-F5E88F66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Ketentuan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Kuis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Praktikum</a:t>
            </a:r>
            <a:endParaRPr lang="en-US" b="0" err="1">
              <a:solidFill>
                <a:srgbClr val="000000"/>
              </a:solidFill>
              <a:ea typeface="Open Sans"/>
              <a:cs typeface="Open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C592-DF58-3D55-CBE1-AACEB2B0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mata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kuliah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memiliki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berkelompok</a:t>
            </a:r>
            <a:r>
              <a:rPr lang="en-US" sz="1400">
                <a:ea typeface="Open Sans"/>
                <a:cs typeface="Open Sans"/>
              </a:rPr>
              <a:t>. </a:t>
            </a:r>
            <a:r>
              <a:rPr lang="en-US" sz="1400" err="1">
                <a:ea typeface="Open Sans"/>
                <a:cs typeface="Open Sans"/>
              </a:rPr>
              <a:t>Tolong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perhatikan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hal-hal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berikut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ini</a:t>
            </a:r>
            <a:r>
              <a:rPr lang="en-US" sz="14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>
                <a:ea typeface="Open Sans"/>
                <a:cs typeface="Open Sans"/>
              </a:rPr>
              <a:t>Proses </a:t>
            </a:r>
            <a:r>
              <a:rPr lang="en-US" sz="1200" err="1">
                <a:ea typeface="Open Sans"/>
                <a:cs typeface="Open Sans"/>
              </a:rPr>
              <a:t>pembentukan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dapat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dilakukan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sejak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pertemuan</a:t>
            </a:r>
            <a:r>
              <a:rPr lang="en-US" sz="1200">
                <a:ea typeface="Open Sans"/>
                <a:cs typeface="Open Sans"/>
              </a:rPr>
              <a:t> 1 </a:t>
            </a:r>
            <a:r>
              <a:rPr lang="en-US" sz="1200" err="1">
                <a:ea typeface="Open Sans"/>
                <a:cs typeface="Open Sans"/>
              </a:rPr>
              <a:t>hingga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pertemuan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sebelum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>
                <a:ea typeface="Open Sans"/>
                <a:cs typeface="Open Sans"/>
              </a:rPr>
              <a:t>Pada </a:t>
            </a:r>
            <a:r>
              <a:rPr lang="en-US" sz="1200" b="1" err="1">
                <a:ea typeface="Open Sans"/>
                <a:cs typeface="Open Sans"/>
              </a:rPr>
              <a:t>pertemuan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sebelum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apabila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masih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ada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mahasiswa</a:t>
            </a:r>
            <a:r>
              <a:rPr lang="en-US" sz="1200">
                <a:ea typeface="Open Sans"/>
                <a:cs typeface="Open Sans"/>
              </a:rPr>
              <a:t> yang </a:t>
            </a:r>
            <a:r>
              <a:rPr lang="en-US" sz="1200" err="1">
                <a:ea typeface="Open Sans"/>
                <a:cs typeface="Open Sans"/>
              </a:rPr>
              <a:t>belum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mendapatkan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mahasiswa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tersebut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diperkenankan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untuk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menghubungi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kelompok</a:t>
            </a:r>
            <a:r>
              <a:rPr lang="en-US" sz="1200" b="1">
                <a:ea typeface="Open Sans"/>
                <a:cs typeface="Open Sans"/>
              </a:rPr>
              <a:t> yang </a:t>
            </a:r>
            <a:r>
              <a:rPr lang="en-US" sz="1200" b="1" err="1">
                <a:ea typeface="Open Sans"/>
                <a:cs typeface="Open Sans"/>
              </a:rPr>
              <a:t>masih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memiliki</a:t>
            </a:r>
            <a:r>
              <a:rPr lang="en-US" sz="1200" b="1">
                <a:ea typeface="Open Sans"/>
                <a:cs typeface="Open Sans"/>
              </a:rPr>
              <a:t> slot </a:t>
            </a:r>
            <a:r>
              <a:rPr lang="en-US" sz="1200" b="1" err="1">
                <a:ea typeface="Open Sans"/>
                <a:cs typeface="Open Sans"/>
              </a:rPr>
              <a:t>anggota</a:t>
            </a:r>
            <a:r>
              <a:rPr lang="en-US" sz="1200">
                <a:ea typeface="Open Sans"/>
                <a:cs typeface="Open Sans"/>
              </a:rPr>
              <a:t> guna </a:t>
            </a:r>
            <a:r>
              <a:rPr lang="en-US" sz="1200" err="1">
                <a:ea typeface="Open Sans"/>
                <a:cs typeface="Open Sans"/>
              </a:rPr>
              <a:t>menanyakan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kemungkinan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bergabung</a:t>
            </a:r>
            <a:r>
              <a:rPr lang="en-US" sz="1200">
                <a:ea typeface="Open Sans"/>
                <a:cs typeface="Open Sans"/>
              </a:rPr>
              <a:t>. </a:t>
            </a:r>
            <a:r>
              <a:rPr lang="en-US" sz="1200" err="1">
                <a:ea typeface="Open Sans"/>
                <a:cs typeface="Open Sans"/>
              </a:rPr>
              <a:t>Apabila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tidak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ada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mahasiswa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atau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yang </a:t>
            </a:r>
            <a:r>
              <a:rPr lang="en-US" sz="1200" err="1">
                <a:ea typeface="Open Sans"/>
                <a:cs typeface="Open Sans"/>
              </a:rPr>
              <a:t>bersedia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melakukan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penyesuaian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maka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pembentukan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kelompok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akan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dilakukan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secara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acak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dengan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mahasiswa</a:t>
            </a:r>
            <a:r>
              <a:rPr lang="en-US" sz="1200" b="1">
                <a:ea typeface="Open Sans"/>
                <a:cs typeface="Open Sans"/>
              </a:rPr>
              <a:t> lain yang juga </a:t>
            </a:r>
            <a:r>
              <a:rPr lang="en-US" sz="1200" b="1" err="1">
                <a:ea typeface="Open Sans"/>
                <a:cs typeface="Open Sans"/>
              </a:rPr>
              <a:t>belum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berhasil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membentuk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kelompok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hingga</a:t>
            </a:r>
            <a:r>
              <a:rPr lang="en-US" sz="1200" b="1">
                <a:ea typeface="Open Sans"/>
                <a:cs typeface="Open Sans"/>
              </a:rPr>
              <a:t> batas </a:t>
            </a:r>
            <a:r>
              <a:rPr lang="en-US" sz="1200" b="1" err="1">
                <a:ea typeface="Open Sans"/>
                <a:cs typeface="Open Sans"/>
              </a:rPr>
              <a:t>waktu</a:t>
            </a:r>
            <a:r>
              <a:rPr lang="en-US" sz="1200" b="1">
                <a:ea typeface="Open Sans"/>
                <a:cs typeface="Open Sans"/>
              </a:rPr>
              <a:t> yang </a:t>
            </a:r>
            <a:r>
              <a:rPr lang="en-US" sz="1200" b="1" err="1">
                <a:ea typeface="Open Sans"/>
                <a:cs typeface="Open Sans"/>
              </a:rPr>
              <a:t>ditentukan</a:t>
            </a:r>
            <a:r>
              <a:rPr lang="en-US" sz="120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>
                <a:ea typeface="Open Sans"/>
                <a:cs typeface="Open Sans"/>
              </a:rPr>
              <a:t>Dalam proses </a:t>
            </a:r>
            <a:r>
              <a:rPr lang="en-US" sz="1200" err="1">
                <a:ea typeface="Open Sans"/>
                <a:cs typeface="Open Sans"/>
              </a:rPr>
              <a:t>pengacakan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terdapat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kemungkinan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terbentuk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dengan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hanya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>
                <a:ea typeface="Open Sans"/>
                <a:cs typeface="Open Sans"/>
              </a:rPr>
              <a:t>1 </a:t>
            </a:r>
            <a:r>
              <a:rPr lang="en-US" sz="1200" b="1" err="1">
                <a:ea typeface="Open Sans"/>
                <a:cs typeface="Open Sans"/>
              </a:rPr>
              <a:t>anggota</a:t>
            </a:r>
            <a:r>
              <a:rPr lang="en-US" sz="12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>
                <a:ea typeface="Open Sans"/>
                <a:cs typeface="Open Sans"/>
              </a:rPr>
              <a:t>Proses </a:t>
            </a:r>
            <a:r>
              <a:rPr lang="en-US" sz="1200" b="1" err="1">
                <a:ea typeface="Open Sans"/>
                <a:cs typeface="Open Sans"/>
              </a:rPr>
              <a:t>pengacakan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hanya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dilakukan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>
                <a:ea typeface="Open Sans"/>
                <a:cs typeface="Open Sans"/>
              </a:rPr>
              <a:t>1 kali</a:t>
            </a:r>
            <a:r>
              <a:rPr lang="en-US" sz="12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 err="1">
                <a:ea typeface="Open Sans"/>
                <a:cs typeface="Open Sans"/>
              </a:rPr>
              <a:t>Setelah</a:t>
            </a:r>
            <a:r>
              <a:rPr lang="en-US" sz="1200">
                <a:ea typeface="Open Sans"/>
                <a:cs typeface="Open Sans"/>
              </a:rPr>
              <a:t> batas </a:t>
            </a:r>
            <a:r>
              <a:rPr lang="en-US" sz="1200" err="1">
                <a:ea typeface="Open Sans"/>
                <a:cs typeface="Open Sans"/>
              </a:rPr>
              <a:t>pendataan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berakhir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mahasiswa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tidak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boleh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mengubah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anggota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yang </a:t>
            </a:r>
            <a:r>
              <a:rPr lang="en-US" sz="1200" err="1">
                <a:ea typeface="Open Sans"/>
                <a:cs typeface="Open Sans"/>
              </a:rPr>
              <a:t>telah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terbentuk</a:t>
            </a:r>
            <a:r>
              <a:rPr lang="en-US" sz="12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 err="1">
                <a:ea typeface="Open Sans"/>
                <a:cs typeface="Open Sans"/>
              </a:rPr>
              <a:t>Untuk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mata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kuliah</a:t>
            </a:r>
            <a:r>
              <a:rPr lang="en-US" sz="1200">
                <a:ea typeface="Open Sans"/>
                <a:cs typeface="Open Sans"/>
              </a:rPr>
              <a:t> yang </a:t>
            </a:r>
            <a:r>
              <a:rPr lang="en-US" sz="1200" b="1" err="1">
                <a:ea typeface="Open Sans"/>
                <a:cs typeface="Open Sans"/>
              </a:rPr>
              <a:t>memiliki</a:t>
            </a:r>
            <a:r>
              <a:rPr lang="en-US" sz="1200" b="1">
                <a:ea typeface="Open Sans"/>
                <a:cs typeface="Open Sans"/>
              </a:rPr>
              <a:t> 2 </a:t>
            </a:r>
            <a:r>
              <a:rPr lang="en-US" sz="1200" b="1" err="1">
                <a:ea typeface="Open Sans"/>
                <a:cs typeface="Open Sans"/>
              </a:rPr>
              <a:t>penilaian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mahasiswa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diperbolehkan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mengganti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anggota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untuk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kedua</a:t>
            </a:r>
            <a:r>
              <a:rPr lang="en-US" sz="1200">
                <a:ea typeface="Open Sans"/>
                <a:cs typeface="Open Sans"/>
              </a:rPr>
              <a:t>. Proses </a:t>
            </a:r>
            <a:r>
              <a:rPr lang="en-US" sz="1200" err="1">
                <a:ea typeface="Open Sans"/>
                <a:cs typeface="Open Sans"/>
              </a:rPr>
              <a:t>penggantian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dapat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dilakukan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setelah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pertama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berakhir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hingga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pertemuan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sebelum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kedua</a:t>
            </a:r>
            <a:r>
              <a:rPr lang="en-US" sz="120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200" b="1">
                <a:ea typeface="Open Sans"/>
                <a:cs typeface="Open Sans"/>
              </a:rPr>
              <a:t>Jika </a:t>
            </a:r>
            <a:r>
              <a:rPr lang="en-US" sz="1200" b="1" err="1">
                <a:ea typeface="Open Sans"/>
                <a:cs typeface="Open Sans"/>
              </a:rPr>
              <a:t>tidak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ada</a:t>
            </a:r>
            <a:r>
              <a:rPr lang="en-US" sz="1200" b="1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perubahan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anggota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setelah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pertama</a:t>
            </a:r>
            <a:r>
              <a:rPr lang="en-US" sz="1200">
                <a:ea typeface="Open Sans"/>
                <a:cs typeface="Open Sans"/>
              </a:rPr>
              <a:t>, </a:t>
            </a:r>
            <a:r>
              <a:rPr lang="en-US" sz="1200" err="1">
                <a:ea typeface="Open Sans"/>
                <a:cs typeface="Open Sans"/>
              </a:rPr>
              <a:t>maka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kelompok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untuk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kedua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akan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b="1" err="1">
                <a:ea typeface="Open Sans"/>
                <a:cs typeface="Open Sans"/>
              </a:rPr>
              <a:t>disamakan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seperti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kuis</a:t>
            </a:r>
            <a:r>
              <a:rPr lang="en-US" sz="1200">
                <a:ea typeface="Open Sans"/>
                <a:cs typeface="Open Sans"/>
              </a:rPr>
              <a:t> </a:t>
            </a:r>
            <a:r>
              <a:rPr lang="en-US" sz="1200" err="1">
                <a:ea typeface="Open Sans"/>
                <a:cs typeface="Open Sans"/>
              </a:rPr>
              <a:t>pertama</a:t>
            </a:r>
            <a:r>
              <a:rPr lang="en-US" sz="1200">
                <a:ea typeface="Open Sans"/>
                <a:cs typeface="Open Sans"/>
              </a:rPr>
              <a:t>.</a:t>
            </a:r>
          </a:p>
          <a:p>
            <a:pPr lvl="1">
              <a:buFont typeface="Courier New" pitchFamily="34" charset="0"/>
              <a:buChar char="o"/>
            </a:pP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17672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13416"/>
            <a:ext cx="7696201" cy="43397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b="1" err="1"/>
              <a:t>kalender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dibagi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2 batch.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keluar</a:t>
            </a:r>
            <a:r>
              <a:rPr lang="en-US" sz="1600"/>
              <a:t> pada batch 1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b="1" err="1"/>
              <a:t>hanya</a:t>
            </a:r>
            <a:r>
              <a:rPr lang="en-US" sz="1600" b="1"/>
              <a:t> </a:t>
            </a:r>
            <a:r>
              <a:rPr lang="en-US" sz="1600" b="1" err="1"/>
              <a:t>terlaksana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kali </a:t>
            </a:r>
            <a:r>
              <a:rPr lang="en-US" sz="1600" b="1" err="1"/>
              <a:t>dalam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semester dan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dilaksanakan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batch 1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. Selain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batch 2.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b="1" err="1"/>
              <a:t>melihat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LMS pada menu Courses </a:t>
            </a:r>
            <a:r>
              <a:rPr lang="en-US" sz="1600">
                <a:sym typeface="Wingdings" pitchFamily="2" charset="2"/>
              </a:rPr>
              <a:t> Gradebook.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295400" y="2276734"/>
            <a:ext cx="7467600" cy="1152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/>
              <a:t>paling </a:t>
            </a:r>
            <a:r>
              <a:rPr lang="en-US" sz="1600" b="1" err="1"/>
              <a:t>lambat</a:t>
            </a:r>
            <a:r>
              <a:rPr lang="en-US" sz="1600" b="1"/>
              <a:t> 3 (</a:t>
            </a:r>
            <a:r>
              <a:rPr lang="en-US" sz="1600" b="1" err="1"/>
              <a:t>tiga</a:t>
            </a:r>
            <a:r>
              <a:rPr lang="en-US" sz="1600" b="1"/>
              <a:t>) </a:t>
            </a:r>
            <a:r>
              <a:rPr lang="en-US" sz="1600" b="1" err="1"/>
              <a:t>hari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dikeluarkan</a:t>
            </a:r>
            <a:r>
              <a:rPr lang="en-US" sz="1600" b="1"/>
              <a:t>*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pada menu Learning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Grades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peraturan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 b="1"/>
              <a:t>, Academic Book</a:t>
            </a:r>
            <a:r>
              <a:rPr lang="en-US" sz="1400"/>
              <a:t>, </a:t>
            </a:r>
            <a:r>
              <a:rPr lang="en-US" sz="1400" err="1"/>
              <a:t>dsb</a:t>
            </a:r>
            <a:r>
              <a:rPr lang="en-US" sz="140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Practicum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Home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Rules &amp; Procedures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perkuliahan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Academic Calendar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13815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FACA1B5C36FE4C8AEF96D7973CBA34" ma:contentTypeVersion="19" ma:contentTypeDescription="Create a new document." ma:contentTypeScope="" ma:versionID="485a6171d0e85959470fe8d23b8f40b6">
  <xsd:schema xmlns:xsd="http://www.w3.org/2001/XMLSchema" xmlns:xs="http://www.w3.org/2001/XMLSchema" xmlns:p="http://schemas.microsoft.com/office/2006/metadata/properties" xmlns:ns2="ffd7d6f0-75b0-49ae-a7ed-c1e0b8802541" xmlns:ns3="f02bd64b-e121-406d-aa31-7382c0c39785" targetNamespace="http://schemas.microsoft.com/office/2006/metadata/properties" ma:root="true" ma:fieldsID="fa9b0ef3232081d91c275e589ba44c51" ns2:_="" ns3:_="">
    <xsd:import namespace="ffd7d6f0-75b0-49ae-a7ed-c1e0b8802541"/>
    <xsd:import namespace="f02bd64b-e121-406d-aa31-7382c0c39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7d6f0-75b0-49ae-a7ed-c1e0b88025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2bd64b-e121-406d-aa31-7382c0c39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ec2666b-85b8-4470-ac0f-db2fae50ecc9}" ma:internalName="TaxCatchAll" ma:showField="CatchAllData" ma:web="f02bd64b-e121-406d-aa31-7382c0c39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d7d6f0-75b0-49ae-a7ed-c1e0b8802541">
      <Terms xmlns="http://schemas.microsoft.com/office/infopath/2007/PartnerControls"/>
    </lcf76f155ced4ddcb4097134ff3c332f>
    <SharedWithUsers xmlns="f02bd64b-e121-406d-aa31-7382c0c39785">
      <UserInfo>
        <DisplayName/>
        <AccountId xsi:nil="true"/>
        <AccountType/>
      </UserInfo>
    </SharedWithUsers>
    <TaxCatchAll xmlns="f02bd64b-e121-406d-aa31-7382c0c3978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84A68-AA04-497F-BA55-7D0E7E01D8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7d6f0-75b0-49ae-a7ed-c1e0b8802541"/>
    <ds:schemaRef ds:uri="f02bd64b-e121-406d-aa31-7382c0c39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ADC341-9061-4F55-AB97-FCEB9AEB46C1}">
  <ds:schemaRefs>
    <ds:schemaRef ds:uri="2237de5d-ba2c-42f0-a43a-ff08c7118140"/>
    <ds:schemaRef ds:uri="http://purl.org/dc/dcmitype/"/>
    <ds:schemaRef ds:uri="http://schemas.microsoft.com/office/2006/documentManagement/types"/>
    <ds:schemaRef ds:uri="1321f8db-5714-4c4c-ad97-ade6dd2128d3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ffd7d6f0-75b0-49ae-a7ed-c1e0b8802541"/>
    <ds:schemaRef ds:uri="f02bd64b-e121-406d-aa31-7382c0c39785"/>
  </ds:schemaRefs>
</ds:datastoreItem>
</file>

<file path=customXml/itemProps3.xml><?xml version="1.0" encoding="utf-8"?>
<ds:datastoreItem xmlns:ds="http://schemas.openxmlformats.org/officeDocument/2006/customXml" ds:itemID="{F4FA3DAB-A89F-43DC-9C0C-7CECCA44D4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3493</Words>
  <Application>Microsoft Office PowerPoint</Application>
  <PresentationFormat>On-screen Show (4:3)</PresentationFormat>
  <Paragraphs>322</Paragraphs>
  <Slides>54</Slides>
  <Notes>3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Arial,Sans-Serif</vt:lpstr>
      <vt:lpstr>Calibri</vt:lpstr>
      <vt:lpstr>Courier New</vt:lpstr>
      <vt:lpstr>Courier New,monospace</vt:lpstr>
      <vt:lpstr>Open Sans</vt:lpstr>
      <vt:lpstr>Wingdings</vt:lpstr>
      <vt:lpstr>Office Theme</vt:lpstr>
      <vt:lpstr>COMP6826001 – Deep Learning BL01     Angelina Oktaviani Putri (AP26-1)  Samuel Joseph Wijaya (JJ26-2)    Software Laboratory Center Ganjil 2627</vt:lpstr>
      <vt:lpstr>PowerPoint Presentation</vt:lpstr>
      <vt:lpstr>PowerPoint Presentation</vt:lpstr>
      <vt:lpstr>PowerPoint Presentation</vt:lpstr>
      <vt:lpstr>PowerPoint Presentation</vt:lpstr>
      <vt:lpstr>Kehadiran Praktikum (Online)</vt:lpstr>
      <vt:lpstr>PowerPoint Presentation</vt:lpstr>
      <vt:lpstr>PowerPoint Presentation</vt:lpstr>
      <vt:lpstr>Kehadiran Praktikum (Cont.) </vt:lpstr>
      <vt:lpstr>Kehadiran Praktikum (Onsite)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Ketentuan Ruangan Praktikum</vt:lpstr>
      <vt:lpstr>PowerPoint Presentation</vt:lpstr>
      <vt:lpstr>PowerPoint Presentation</vt:lpstr>
      <vt:lpstr>PowerPoint Presentation</vt:lpstr>
      <vt:lpstr>Sistem Perkuliahan Mata Kuliah Praktikum &amp; Materi Praktikum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Proyek &amp; Kuis Bawa Pulang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Kuis Terjadwal dan Ujian Akhir Praktikum</vt:lpstr>
      <vt:lpstr>PowerPoint Presentation</vt:lpstr>
      <vt:lpstr>Ketentuan Kuis Praktikum</vt:lpstr>
      <vt:lpstr>Penilaian dan Protes Nilai</vt:lpstr>
      <vt:lpstr>PowerPoint Presentation</vt:lpstr>
      <vt:lpstr>PowerPoint Presentation</vt:lpstr>
      <vt:lpstr>PowerPoint Presentation</vt:lpstr>
      <vt:lpstr>Kelas Tambahan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lastModifiedBy>SAMUEL JOSEPH WIJAYA</cp:lastModifiedBy>
  <cp:revision>56</cp:revision>
  <dcterms:created xsi:type="dcterms:W3CDTF">2021-02-10T00:08:20Z</dcterms:created>
  <dcterms:modified xsi:type="dcterms:W3CDTF">2026-09-06T07:17:06Z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0x010100BDFACA1B5C36FE4C8AEF96D7973CBA34</vt:lpwstr>
  </property>
  <property fmtid="{D5CDD505-2E9C-101B-9397-08002B2CF9AE}" pid="3" name="MediaServiceImageTags">
    <vt:lpwstr/>
  </property>
  <property fmtid="{D5CDD505-2E9C-101B-9397-08002B2CF9AE}" pid="4" name="Order">
    <vt:r8>9673900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